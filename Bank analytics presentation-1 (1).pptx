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handoutMasterIdLst>
    <p:handoutMasterId r:id="rId20"/>
  </p:handoutMasterIdLst>
  <p:sldIdLst>
    <p:sldId id="281" r:id="rId5"/>
    <p:sldId id="284" r:id="rId6"/>
    <p:sldId id="278" r:id="rId7"/>
    <p:sldId id="261" r:id="rId8"/>
    <p:sldId id="273" r:id="rId9"/>
    <p:sldId id="279" r:id="rId10"/>
    <p:sldId id="265" r:id="rId11"/>
    <p:sldId id="293" r:id="rId12"/>
    <p:sldId id="268" r:id="rId13"/>
    <p:sldId id="266" r:id="rId14"/>
    <p:sldId id="292" r:id="rId15"/>
    <p:sldId id="294" r:id="rId16"/>
    <p:sldId id="295" r:id="rId17"/>
    <p:sldId id="28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464F318-8D97-4F38-ADA0-2A82CB511910}">
          <p14:sldIdLst>
            <p14:sldId id="281"/>
            <p14:sldId id="284"/>
            <p14:sldId id="278"/>
            <p14:sldId id="261"/>
            <p14:sldId id="273"/>
            <p14:sldId id="279"/>
            <p14:sldId id="265"/>
            <p14:sldId id="293"/>
            <p14:sldId id="268"/>
            <p14:sldId id="266"/>
            <p14:sldId id="292"/>
            <p14:sldId id="294"/>
            <p14:sldId id="295"/>
            <p14:sldId id="28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UTTY BABY" initials="KB" lastIdx="1" clrIdx="0">
    <p:extLst>
      <p:ext uri="{19B8F6BF-5375-455C-9EA6-DF929625EA0E}">
        <p15:presenceInfo xmlns:p15="http://schemas.microsoft.com/office/powerpoint/2012/main" userId="59ba7503f6fe206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79" autoAdjust="0"/>
  </p:normalViewPr>
  <p:slideViewPr>
    <p:cSldViewPr snapToGrid="0">
      <p:cViewPr varScale="1">
        <p:scale>
          <a:sx n="67" d="100"/>
          <a:sy n="67" d="100"/>
        </p:scale>
        <p:origin x="644" y="44"/>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TTY BABY" userId="59ba7503f6fe206c" providerId="LiveId" clId="{386F71DF-19A5-406B-8F85-18CCB3C7B5EC}"/>
    <pc:docChg chg="custSel addSld delSld modSld addSection delSection modSection">
      <pc:chgData name="KUTTY BABY" userId="59ba7503f6fe206c" providerId="LiveId" clId="{386F71DF-19A5-406B-8F85-18CCB3C7B5EC}" dt="2026-09-06T11:44:31.041" v="1397" actId="255"/>
      <pc:docMkLst>
        <pc:docMk/>
      </pc:docMkLst>
      <pc:sldChg chg="addSp delSp modSp mod">
        <pc:chgData name="KUTTY BABY" userId="59ba7503f6fe206c" providerId="LiveId" clId="{386F71DF-19A5-406B-8F85-18CCB3C7B5EC}" dt="2026-09-05T13:55:23.865" v="364" actId="113"/>
        <pc:sldMkLst>
          <pc:docMk/>
          <pc:sldMk cId="729609147" sldId="265"/>
        </pc:sldMkLst>
        <pc:spChg chg="mod">
          <ac:chgData name="KUTTY BABY" userId="59ba7503f6fe206c" providerId="LiveId" clId="{386F71DF-19A5-406B-8F85-18CCB3C7B5EC}" dt="2026-09-05T13:53:03.440" v="342" actId="113"/>
          <ac:spMkLst>
            <pc:docMk/>
            <pc:sldMk cId="729609147" sldId="265"/>
            <ac:spMk id="2" creationId="{314C27C8-165C-5513-DB4B-9D840097C545}"/>
          </ac:spMkLst>
        </pc:spChg>
        <pc:spChg chg="mod">
          <ac:chgData name="KUTTY BABY" userId="59ba7503f6fe206c" providerId="LiveId" clId="{386F71DF-19A5-406B-8F85-18CCB3C7B5EC}" dt="2026-09-05T13:55:23.865" v="364" actId="113"/>
          <ac:spMkLst>
            <pc:docMk/>
            <pc:sldMk cId="729609147" sldId="265"/>
            <ac:spMk id="4" creationId="{83302BFD-960F-CBB3-E984-CDC12813A10C}"/>
          </ac:spMkLst>
        </pc:spChg>
        <pc:spChg chg="del mod">
          <ac:chgData name="KUTTY BABY" userId="59ba7503f6fe206c" providerId="LiveId" clId="{386F71DF-19A5-406B-8F85-18CCB3C7B5EC}" dt="2026-09-05T13:53:49.250" v="350" actId="931"/>
          <ac:spMkLst>
            <pc:docMk/>
            <pc:sldMk cId="729609147" sldId="265"/>
            <ac:spMk id="52" creationId="{F2CCE123-860F-8623-781F-12CEA66980F5}"/>
          </ac:spMkLst>
        </pc:spChg>
        <pc:picChg chg="add mod">
          <ac:chgData name="KUTTY BABY" userId="59ba7503f6fe206c" providerId="LiveId" clId="{386F71DF-19A5-406B-8F85-18CCB3C7B5EC}" dt="2026-09-05T13:54:06.209" v="354" actId="14100"/>
          <ac:picMkLst>
            <pc:docMk/>
            <pc:sldMk cId="729609147" sldId="265"/>
            <ac:picMk id="6" creationId="{14131C8B-4F72-4B6F-BF64-5CE092053608}"/>
          </ac:picMkLst>
        </pc:picChg>
      </pc:sldChg>
      <pc:sldChg chg="addSp delSp modSp mod">
        <pc:chgData name="KUTTY BABY" userId="59ba7503f6fe206c" providerId="LiveId" clId="{386F71DF-19A5-406B-8F85-18CCB3C7B5EC}" dt="2026-09-05T14:36:15.825" v="856" actId="14100"/>
        <pc:sldMkLst>
          <pc:docMk/>
          <pc:sldMk cId="643777997" sldId="266"/>
        </pc:sldMkLst>
        <pc:spChg chg="mod">
          <ac:chgData name="KUTTY BABY" userId="59ba7503f6fe206c" providerId="LiveId" clId="{386F71DF-19A5-406B-8F85-18CCB3C7B5EC}" dt="2026-09-05T14:29:58.319" v="610" actId="113"/>
          <ac:spMkLst>
            <pc:docMk/>
            <pc:sldMk cId="643777997" sldId="266"/>
            <ac:spMk id="2" creationId="{5D030A76-B788-B363-104E-266B7C7F7208}"/>
          </ac:spMkLst>
        </pc:spChg>
        <pc:spChg chg="del mod">
          <ac:chgData name="KUTTY BABY" userId="59ba7503f6fe206c" providerId="LiveId" clId="{386F71DF-19A5-406B-8F85-18CCB3C7B5EC}" dt="2026-09-05T14:32:53.543" v="845"/>
          <ac:spMkLst>
            <pc:docMk/>
            <pc:sldMk cId="643777997" sldId="266"/>
            <ac:spMk id="3" creationId="{05948542-FCE1-3AE6-C6C9-17975609DF70}"/>
          </ac:spMkLst>
        </pc:spChg>
        <pc:spChg chg="del mod">
          <ac:chgData name="KUTTY BABY" userId="59ba7503f6fe206c" providerId="LiveId" clId="{386F71DF-19A5-406B-8F85-18CCB3C7B5EC}" dt="2026-09-05T14:36:02.718" v="853" actId="22"/>
          <ac:spMkLst>
            <pc:docMk/>
            <pc:sldMk cId="643777997" sldId="266"/>
            <ac:spMk id="4" creationId="{3EE67564-0457-E486-97D0-8109D2C97B3F}"/>
          </ac:spMkLst>
        </pc:spChg>
        <pc:spChg chg="add del mod">
          <ac:chgData name="KUTTY BABY" userId="59ba7503f6fe206c" providerId="LiveId" clId="{386F71DF-19A5-406B-8F85-18CCB3C7B5EC}" dt="2026-09-05T14:32:55.445" v="846"/>
          <ac:spMkLst>
            <pc:docMk/>
            <pc:sldMk cId="643777997" sldId="266"/>
            <ac:spMk id="6" creationId="{928C38F8-4AD4-4477-BDEA-FCB68B0014B5}"/>
          </ac:spMkLst>
        </pc:spChg>
        <pc:spChg chg="add del mod">
          <ac:chgData name="KUTTY BABY" userId="59ba7503f6fe206c" providerId="LiveId" clId="{386F71DF-19A5-406B-8F85-18CCB3C7B5EC}" dt="2026-09-05T14:33:01.152" v="847"/>
          <ac:spMkLst>
            <pc:docMk/>
            <pc:sldMk cId="643777997" sldId="266"/>
            <ac:spMk id="7" creationId="{E27F11E9-BD84-4836-8072-3B265D1E8683}"/>
          </ac:spMkLst>
        </pc:spChg>
        <pc:spChg chg="add del mod">
          <ac:chgData name="KUTTY BABY" userId="59ba7503f6fe206c" providerId="LiveId" clId="{386F71DF-19A5-406B-8F85-18CCB3C7B5EC}" dt="2026-09-05T14:33:07.135" v="848"/>
          <ac:spMkLst>
            <pc:docMk/>
            <pc:sldMk cId="643777997" sldId="266"/>
            <ac:spMk id="8" creationId="{7EDFD5A4-3132-45EB-9F2A-0EF9508EEE9F}"/>
          </ac:spMkLst>
        </pc:spChg>
        <pc:picChg chg="add mod">
          <ac:chgData name="KUTTY BABY" userId="59ba7503f6fe206c" providerId="LiveId" clId="{386F71DF-19A5-406B-8F85-18CCB3C7B5EC}" dt="2026-09-05T14:33:15.588" v="851" actId="14100"/>
          <ac:picMkLst>
            <pc:docMk/>
            <pc:sldMk cId="643777997" sldId="266"/>
            <ac:picMk id="9" creationId="{ABD02768-7063-46CF-8117-B5DA7267985F}"/>
          </ac:picMkLst>
        </pc:picChg>
        <pc:picChg chg="add mod ord">
          <ac:chgData name="KUTTY BABY" userId="59ba7503f6fe206c" providerId="LiveId" clId="{386F71DF-19A5-406B-8F85-18CCB3C7B5EC}" dt="2026-09-05T14:36:15.825" v="856" actId="14100"/>
          <ac:picMkLst>
            <pc:docMk/>
            <pc:sldMk cId="643777997" sldId="266"/>
            <ac:picMk id="11" creationId="{50A30661-AFC2-4F17-8822-D46E1A2A143E}"/>
          </ac:picMkLst>
        </pc:picChg>
      </pc:sldChg>
      <pc:sldChg chg="addSp delSp modSp mod">
        <pc:chgData name="KUTTY BABY" userId="59ba7503f6fe206c" providerId="LiveId" clId="{386F71DF-19A5-406B-8F85-18CCB3C7B5EC}" dt="2026-09-06T11:43:38.066" v="1289" actId="113"/>
        <pc:sldMkLst>
          <pc:docMk/>
          <pc:sldMk cId="4259977132" sldId="268"/>
        </pc:sldMkLst>
        <pc:spChg chg="mod">
          <ac:chgData name="KUTTY BABY" userId="59ba7503f6fe206c" providerId="LiveId" clId="{386F71DF-19A5-406B-8F85-18CCB3C7B5EC}" dt="2026-09-06T11:43:38.066" v="1289" actId="113"/>
          <ac:spMkLst>
            <pc:docMk/>
            <pc:sldMk cId="4259977132" sldId="268"/>
            <ac:spMk id="2" creationId="{B7545968-70F7-0180-6448-3547E442EF4A}"/>
          </ac:spMkLst>
        </pc:spChg>
        <pc:spChg chg="add del mod">
          <ac:chgData name="KUTTY BABY" userId="59ba7503f6fe206c" providerId="LiveId" clId="{386F71DF-19A5-406B-8F85-18CCB3C7B5EC}" dt="2026-09-05T14:22:44.598" v="477" actId="21"/>
          <ac:spMkLst>
            <pc:docMk/>
            <pc:sldMk cId="4259977132" sldId="268"/>
            <ac:spMk id="5" creationId="{BFA9E89A-CDD6-4C0E-A459-86044A736928}"/>
          </ac:spMkLst>
        </pc:spChg>
        <pc:spChg chg="mod">
          <ac:chgData name="KUTTY BABY" userId="59ba7503f6fe206c" providerId="LiveId" clId="{386F71DF-19A5-406B-8F85-18CCB3C7B5EC}" dt="2026-09-05T14:27:32.670" v="548" actId="14100"/>
          <ac:spMkLst>
            <pc:docMk/>
            <pc:sldMk cId="4259977132" sldId="268"/>
            <ac:spMk id="8" creationId="{215CE58D-2739-522B-7C3A-6A7C985360C0}"/>
          </ac:spMkLst>
        </pc:spChg>
        <pc:graphicFrameChg chg="del mod modGraphic">
          <ac:chgData name="KUTTY BABY" userId="59ba7503f6fe206c" providerId="LiveId" clId="{386F71DF-19A5-406B-8F85-18CCB3C7B5EC}" dt="2026-09-05T14:22:36.282" v="476" actId="21"/>
          <ac:graphicFrameMkLst>
            <pc:docMk/>
            <pc:sldMk cId="4259977132" sldId="268"/>
            <ac:graphicFrameMk id="3" creationId="{F01CF5D3-D3B1-1944-CFDF-D8EE11DE42AA}"/>
          </ac:graphicFrameMkLst>
        </pc:graphicFrameChg>
      </pc:sldChg>
      <pc:sldChg chg="addSp delSp modSp del mod">
        <pc:chgData name="KUTTY BABY" userId="59ba7503f6fe206c" providerId="LiveId" clId="{386F71DF-19A5-406B-8F85-18CCB3C7B5EC}" dt="2026-09-05T14:15:23.318" v="383" actId="2696"/>
        <pc:sldMkLst>
          <pc:docMk/>
          <pc:sldMk cId="1649597717" sldId="277"/>
        </pc:sldMkLst>
        <pc:spChg chg="add del mod">
          <ac:chgData name="KUTTY BABY" userId="59ba7503f6fe206c" providerId="LiveId" clId="{386F71DF-19A5-406B-8F85-18CCB3C7B5EC}" dt="2026-09-05T14:13:51.274" v="367" actId="931"/>
          <ac:spMkLst>
            <pc:docMk/>
            <pc:sldMk cId="1649597717" sldId="277"/>
            <ac:spMk id="5" creationId="{0B0CEE2E-A36C-4E33-B77E-A1BE91745EDB}"/>
          </ac:spMkLst>
        </pc:spChg>
        <pc:spChg chg="add del mod">
          <ac:chgData name="KUTTY BABY" userId="59ba7503f6fe206c" providerId="LiveId" clId="{386F71DF-19A5-406B-8F85-18CCB3C7B5EC}" dt="2026-09-05T14:15:13.911" v="381" actId="931"/>
          <ac:spMkLst>
            <pc:docMk/>
            <pc:sldMk cId="1649597717" sldId="277"/>
            <ac:spMk id="9" creationId="{2A6605F6-A760-4A6D-9C4A-C45C0231A015}"/>
          </ac:spMkLst>
        </pc:spChg>
        <pc:spChg chg="add mod">
          <ac:chgData name="KUTTY BABY" userId="59ba7503f6fe206c" providerId="LiveId" clId="{386F71DF-19A5-406B-8F85-18CCB3C7B5EC}" dt="2026-09-05T14:15:18.803" v="382" actId="21"/>
          <ac:spMkLst>
            <pc:docMk/>
            <pc:sldMk cId="1649597717" sldId="277"/>
            <ac:spMk id="13" creationId="{8A93B1B7-C71B-408B-8F24-2A9F62F576DF}"/>
          </ac:spMkLst>
        </pc:spChg>
        <pc:picChg chg="add del mod">
          <ac:chgData name="KUTTY BABY" userId="59ba7503f6fe206c" providerId="LiveId" clId="{386F71DF-19A5-406B-8F85-18CCB3C7B5EC}" dt="2026-09-05T14:14:19.981" v="371" actId="21"/>
          <ac:picMkLst>
            <pc:docMk/>
            <pc:sldMk cId="1649597717" sldId="277"/>
            <ac:picMk id="7" creationId="{22E31F7D-EE2C-4DEC-9F22-9B539020AF98}"/>
          </ac:picMkLst>
        </pc:picChg>
        <pc:picChg chg="add del mod">
          <ac:chgData name="KUTTY BABY" userId="59ba7503f6fe206c" providerId="LiveId" clId="{386F71DF-19A5-406B-8F85-18CCB3C7B5EC}" dt="2026-09-05T14:15:18.803" v="382" actId="21"/>
          <ac:picMkLst>
            <pc:docMk/>
            <pc:sldMk cId="1649597717" sldId="277"/>
            <ac:picMk id="11" creationId="{1C50E6EE-992C-49F5-8A21-35402D2DC28E}"/>
          </ac:picMkLst>
        </pc:picChg>
        <pc:picChg chg="del">
          <ac:chgData name="KUTTY BABY" userId="59ba7503f6fe206c" providerId="LiveId" clId="{386F71DF-19A5-406B-8F85-18CCB3C7B5EC}" dt="2026-09-05T13:56:58.584" v="365" actId="21"/>
          <ac:picMkLst>
            <pc:docMk/>
            <pc:sldMk cId="1649597717" sldId="277"/>
            <ac:picMk id="15" creationId="{BBD84AA8-495D-1210-1B06-DA73C5BCF36A}"/>
          </ac:picMkLst>
        </pc:picChg>
      </pc:sldChg>
      <pc:sldChg chg="addSp delSp modSp mod modClrScheme chgLayout">
        <pc:chgData name="KUTTY BABY" userId="59ba7503f6fe206c" providerId="LiveId" clId="{386F71DF-19A5-406B-8F85-18CCB3C7B5EC}" dt="2026-09-05T13:50:43.005" v="279" actId="113"/>
        <pc:sldMkLst>
          <pc:docMk/>
          <pc:sldMk cId="2243159397" sldId="279"/>
        </pc:sldMkLst>
        <pc:spChg chg="del mod ord">
          <ac:chgData name="KUTTY BABY" userId="59ba7503f6fe206c" providerId="LiveId" clId="{386F71DF-19A5-406B-8F85-18CCB3C7B5EC}" dt="2026-09-05T13:43:43.630" v="29" actId="700"/>
          <ac:spMkLst>
            <pc:docMk/>
            <pc:sldMk cId="2243159397" sldId="279"/>
            <ac:spMk id="2" creationId="{47A9874B-BCA9-8420-1595-EDD1865A099A}"/>
          </ac:spMkLst>
        </pc:spChg>
        <pc:spChg chg="del mod ord">
          <ac:chgData name="KUTTY BABY" userId="59ba7503f6fe206c" providerId="LiveId" clId="{386F71DF-19A5-406B-8F85-18CCB3C7B5EC}" dt="2026-09-05T13:48:28.196" v="255" actId="931"/>
          <ac:spMkLst>
            <pc:docMk/>
            <pc:sldMk cId="2243159397" sldId="279"/>
            <ac:spMk id="3" creationId="{68A5FD2B-E3E5-1C2B-0151-21F216B14A33}"/>
          </ac:spMkLst>
        </pc:spChg>
        <pc:spChg chg="mod ord">
          <ac:chgData name="KUTTY BABY" userId="59ba7503f6fe206c" providerId="LiveId" clId="{386F71DF-19A5-406B-8F85-18CCB3C7B5EC}" dt="2026-09-05T13:50:43.005" v="279" actId="113"/>
          <ac:spMkLst>
            <pc:docMk/>
            <pc:sldMk cId="2243159397" sldId="279"/>
            <ac:spMk id="4" creationId="{ACFBB810-3430-2C29-1AA0-9744AA0A1AA3}"/>
          </ac:spMkLst>
        </pc:spChg>
        <pc:spChg chg="add mod ord">
          <ac:chgData name="KUTTY BABY" userId="59ba7503f6fe206c" providerId="LiveId" clId="{386F71DF-19A5-406B-8F85-18CCB3C7B5EC}" dt="2026-09-05T13:48:59.002" v="267" actId="14100"/>
          <ac:spMkLst>
            <pc:docMk/>
            <pc:sldMk cId="2243159397" sldId="279"/>
            <ac:spMk id="6" creationId="{BE13C5D9-A80F-45EA-8274-A727C7371DE7}"/>
          </ac:spMkLst>
        </pc:spChg>
        <pc:spChg chg="add del mod ord">
          <ac:chgData name="KUTTY BABY" userId="59ba7503f6fe206c" providerId="LiveId" clId="{386F71DF-19A5-406B-8F85-18CCB3C7B5EC}" dt="2026-09-05T13:43:51.321" v="30" actId="21"/>
          <ac:spMkLst>
            <pc:docMk/>
            <pc:sldMk cId="2243159397" sldId="279"/>
            <ac:spMk id="7" creationId="{F6569D52-72A0-4048-A5A2-873349297599}"/>
          </ac:spMkLst>
        </pc:spChg>
        <pc:picChg chg="add mod">
          <ac:chgData name="KUTTY BABY" userId="59ba7503f6fe206c" providerId="LiveId" clId="{386F71DF-19A5-406B-8F85-18CCB3C7B5EC}" dt="2026-09-05T13:48:38.781" v="258" actId="14100"/>
          <ac:picMkLst>
            <pc:docMk/>
            <pc:sldMk cId="2243159397" sldId="279"/>
            <ac:picMk id="9" creationId="{6221C456-E424-46DB-8FC6-E75EED03A4D0}"/>
          </ac:picMkLst>
        </pc:picChg>
      </pc:sldChg>
      <pc:sldChg chg="modSp mod">
        <pc:chgData name="KUTTY BABY" userId="59ba7503f6fe206c" providerId="LiveId" clId="{386F71DF-19A5-406B-8F85-18CCB3C7B5EC}" dt="2026-09-06T11:44:31.041" v="1397" actId="255"/>
        <pc:sldMkLst>
          <pc:docMk/>
          <pc:sldMk cId="2184472291" sldId="282"/>
        </pc:sldMkLst>
        <pc:spChg chg="mod">
          <ac:chgData name="KUTTY BABY" userId="59ba7503f6fe206c" providerId="LiveId" clId="{386F71DF-19A5-406B-8F85-18CCB3C7B5EC}" dt="2026-09-06T11:44:31.041" v="1397" actId="255"/>
          <ac:spMkLst>
            <pc:docMk/>
            <pc:sldMk cId="2184472291" sldId="282"/>
            <ac:spMk id="8" creationId="{86613063-168A-02B8-4326-BB842F3B83E2}"/>
          </ac:spMkLst>
        </pc:spChg>
      </pc:sldChg>
      <pc:sldChg chg="modSp mod">
        <pc:chgData name="KUTTY BABY" userId="59ba7503f6fe206c" providerId="LiveId" clId="{386F71DF-19A5-406B-8F85-18CCB3C7B5EC}" dt="2026-09-06T11:42:35.486" v="1287" actId="20577"/>
        <pc:sldMkLst>
          <pc:docMk/>
          <pc:sldMk cId="1672017990" sldId="284"/>
        </pc:sldMkLst>
        <pc:spChg chg="mod">
          <ac:chgData name="KUTTY BABY" userId="59ba7503f6fe206c" providerId="LiveId" clId="{386F71DF-19A5-406B-8F85-18CCB3C7B5EC}" dt="2026-09-06T11:42:35.486" v="1287" actId="20577"/>
          <ac:spMkLst>
            <pc:docMk/>
            <pc:sldMk cId="1672017990" sldId="284"/>
            <ac:spMk id="3" creationId="{992EC4A8-49EE-CF82-CFDC-BA9308ED0D65}"/>
          </ac:spMkLst>
        </pc:spChg>
      </pc:sldChg>
      <pc:sldChg chg="addSp delSp modSp mod">
        <pc:chgData name="KUTTY BABY" userId="59ba7503f6fe206c" providerId="LiveId" clId="{386F71DF-19A5-406B-8F85-18CCB3C7B5EC}" dt="2026-09-05T14:43:30.014" v="973" actId="14100"/>
        <pc:sldMkLst>
          <pc:docMk/>
          <pc:sldMk cId="4233691277" sldId="292"/>
        </pc:sldMkLst>
        <pc:spChg chg="mod">
          <ac:chgData name="KUTTY BABY" userId="59ba7503f6fe206c" providerId="LiveId" clId="{386F71DF-19A5-406B-8F85-18CCB3C7B5EC}" dt="2026-09-05T14:43:30.014" v="973" actId="14100"/>
          <ac:spMkLst>
            <pc:docMk/>
            <pc:sldMk cId="4233691277" sldId="292"/>
            <ac:spMk id="2" creationId="{9760FE33-53A6-E75A-9BA0-8B7B1BFDD51E}"/>
          </ac:spMkLst>
        </pc:spChg>
        <pc:spChg chg="add del mod">
          <ac:chgData name="KUTTY BABY" userId="59ba7503f6fe206c" providerId="LiveId" clId="{386F71DF-19A5-406B-8F85-18CCB3C7B5EC}" dt="2026-09-05T14:36:31.713" v="858" actId="21"/>
          <ac:spMkLst>
            <pc:docMk/>
            <pc:sldMk cId="4233691277" sldId="292"/>
            <ac:spMk id="4" creationId="{B6EDFA58-B85B-4730-9148-BCFFEBC57613}"/>
          </ac:spMkLst>
        </pc:spChg>
        <pc:graphicFrameChg chg="del">
          <ac:chgData name="KUTTY BABY" userId="59ba7503f6fe206c" providerId="LiveId" clId="{386F71DF-19A5-406B-8F85-18CCB3C7B5EC}" dt="2026-09-05T14:36:25.027" v="857" actId="21"/>
          <ac:graphicFrameMkLst>
            <pc:docMk/>
            <pc:sldMk cId="4233691277" sldId="292"/>
            <ac:graphicFrameMk id="12" creationId="{CB65501E-A327-D358-9D08-A3694677266E}"/>
          </ac:graphicFrameMkLst>
        </pc:graphicFrameChg>
      </pc:sldChg>
      <pc:sldChg chg="addSp delSp modSp new mod addCm delCm">
        <pc:chgData name="KUTTY BABY" userId="59ba7503f6fe206c" providerId="LiveId" clId="{386F71DF-19A5-406B-8F85-18CCB3C7B5EC}" dt="2026-09-05T14:21:48.765" v="456" actId="14100"/>
        <pc:sldMkLst>
          <pc:docMk/>
          <pc:sldMk cId="1632722015" sldId="293"/>
        </pc:sldMkLst>
        <pc:spChg chg="mod">
          <ac:chgData name="KUTTY BABY" userId="59ba7503f6fe206c" providerId="LiveId" clId="{386F71DF-19A5-406B-8F85-18CCB3C7B5EC}" dt="2026-09-05T14:21:35.040" v="453" actId="20577"/>
          <ac:spMkLst>
            <pc:docMk/>
            <pc:sldMk cId="1632722015" sldId="293"/>
            <ac:spMk id="2" creationId="{86A0A520-0E12-41D9-96A7-1ED706D5F10B}"/>
          </ac:spMkLst>
        </pc:spChg>
        <pc:spChg chg="del">
          <ac:chgData name="KUTTY BABY" userId="59ba7503f6fe206c" providerId="LiveId" clId="{386F71DF-19A5-406B-8F85-18CCB3C7B5EC}" dt="2026-09-05T14:15:38.876" v="385" actId="931"/>
          <ac:spMkLst>
            <pc:docMk/>
            <pc:sldMk cId="1632722015" sldId="293"/>
            <ac:spMk id="3" creationId="{470068B8-9028-4C5A-BCA5-76EE4A87A232}"/>
          </ac:spMkLst>
        </pc:spChg>
        <pc:spChg chg="del mod">
          <ac:chgData name="KUTTY BABY" userId="59ba7503f6fe206c" providerId="LiveId" clId="{386F71DF-19A5-406B-8F85-18CCB3C7B5EC}" dt="2026-09-05T14:19:28.831" v="410" actId="931"/>
          <ac:spMkLst>
            <pc:docMk/>
            <pc:sldMk cId="1632722015" sldId="293"/>
            <ac:spMk id="4" creationId="{D3C40F20-1797-4BD2-BA02-2AA9C5A47194}"/>
          </ac:spMkLst>
        </pc:spChg>
        <pc:spChg chg="add del mod">
          <ac:chgData name="KUTTY BABY" userId="59ba7503f6fe206c" providerId="LiveId" clId="{386F71DF-19A5-406B-8F85-18CCB3C7B5EC}" dt="2026-09-05T14:18:45.029" v="402"/>
          <ac:spMkLst>
            <pc:docMk/>
            <pc:sldMk cId="1632722015" sldId="293"/>
            <ac:spMk id="8" creationId="{93681459-6145-432F-ACAF-4BEB332B143B}"/>
          </ac:spMkLst>
        </pc:spChg>
        <pc:picChg chg="add del mod">
          <ac:chgData name="KUTTY BABY" userId="59ba7503f6fe206c" providerId="LiveId" clId="{386F71DF-19A5-406B-8F85-18CCB3C7B5EC}" dt="2026-09-05T14:16:37.787" v="393" actId="21"/>
          <ac:picMkLst>
            <pc:docMk/>
            <pc:sldMk cId="1632722015" sldId="293"/>
            <ac:picMk id="6" creationId="{B863AA03-BEAF-4DCA-8419-556A5817ACF6}"/>
          </ac:picMkLst>
        </pc:picChg>
        <pc:picChg chg="add mod">
          <ac:chgData name="KUTTY BABY" userId="59ba7503f6fe206c" providerId="LiveId" clId="{386F71DF-19A5-406B-8F85-18CCB3C7B5EC}" dt="2026-09-05T14:21:43.763" v="455" actId="14100"/>
          <ac:picMkLst>
            <pc:docMk/>
            <pc:sldMk cId="1632722015" sldId="293"/>
            <ac:picMk id="9" creationId="{B3452FF8-FBE5-41A2-85B6-19C58D5420A7}"/>
          </ac:picMkLst>
        </pc:picChg>
        <pc:picChg chg="add mod">
          <ac:chgData name="KUTTY BABY" userId="59ba7503f6fe206c" providerId="LiveId" clId="{386F71DF-19A5-406B-8F85-18CCB3C7B5EC}" dt="2026-09-05T14:21:48.765" v="456" actId="14100"/>
          <ac:picMkLst>
            <pc:docMk/>
            <pc:sldMk cId="1632722015" sldId="293"/>
            <ac:picMk id="11" creationId="{B570A54F-71E4-4207-A7A2-6A270D61EA51}"/>
          </ac:picMkLst>
        </pc:picChg>
      </pc:sldChg>
      <pc:sldChg chg="addSp delSp modSp new mod">
        <pc:chgData name="KUTTY BABY" userId="59ba7503f6fe206c" providerId="LiveId" clId="{386F71DF-19A5-406B-8F85-18CCB3C7B5EC}" dt="2026-09-06T11:32:40.902" v="1008" actId="14100"/>
        <pc:sldMkLst>
          <pc:docMk/>
          <pc:sldMk cId="616137002" sldId="294"/>
        </pc:sldMkLst>
        <pc:spChg chg="mod">
          <ac:chgData name="KUTTY BABY" userId="59ba7503f6fe206c" providerId="LiveId" clId="{386F71DF-19A5-406B-8F85-18CCB3C7B5EC}" dt="2026-09-05T15:19:47.658" v="999" actId="20577"/>
          <ac:spMkLst>
            <pc:docMk/>
            <pc:sldMk cId="616137002" sldId="294"/>
            <ac:spMk id="2" creationId="{A0030589-CC92-440B-ACAC-56BE2FC99322}"/>
          </ac:spMkLst>
        </pc:spChg>
        <pc:spChg chg="del">
          <ac:chgData name="KUTTY BABY" userId="59ba7503f6fe206c" providerId="LiveId" clId="{386F71DF-19A5-406B-8F85-18CCB3C7B5EC}" dt="2026-09-05T14:46:05.669" v="975" actId="21"/>
          <ac:spMkLst>
            <pc:docMk/>
            <pc:sldMk cId="616137002" sldId="294"/>
            <ac:spMk id="3" creationId="{B25911A9-504F-4268-A330-76BB32F1A898}"/>
          </ac:spMkLst>
        </pc:spChg>
        <pc:picChg chg="add mod">
          <ac:chgData name="KUTTY BABY" userId="59ba7503f6fe206c" providerId="LiveId" clId="{386F71DF-19A5-406B-8F85-18CCB3C7B5EC}" dt="2026-09-06T11:31:20.412" v="1004" actId="14100"/>
          <ac:picMkLst>
            <pc:docMk/>
            <pc:sldMk cId="616137002" sldId="294"/>
            <ac:picMk id="4" creationId="{565103E6-6BDB-4F10-835B-246078765CDA}"/>
          </ac:picMkLst>
        </pc:picChg>
        <pc:picChg chg="add mod">
          <ac:chgData name="KUTTY BABY" userId="59ba7503f6fe206c" providerId="LiveId" clId="{386F71DF-19A5-406B-8F85-18CCB3C7B5EC}" dt="2026-09-06T11:32:40.902" v="1008" actId="14100"/>
          <ac:picMkLst>
            <pc:docMk/>
            <pc:sldMk cId="616137002" sldId="294"/>
            <ac:picMk id="6" creationId="{E0CC29D8-C330-4637-828B-6BB3735F0EC7}"/>
          </ac:picMkLst>
        </pc:picChg>
      </pc:sldChg>
      <pc:sldChg chg="delSp modSp new mod">
        <pc:chgData name="KUTTY BABY" userId="59ba7503f6fe206c" providerId="LiveId" clId="{386F71DF-19A5-406B-8F85-18CCB3C7B5EC}" dt="2026-09-06T11:42:09.207" v="1284" actId="20577"/>
        <pc:sldMkLst>
          <pc:docMk/>
          <pc:sldMk cId="1481012431" sldId="295"/>
        </pc:sldMkLst>
        <pc:spChg chg="mod">
          <ac:chgData name="KUTTY BABY" userId="59ba7503f6fe206c" providerId="LiveId" clId="{386F71DF-19A5-406B-8F85-18CCB3C7B5EC}" dt="2026-09-06T11:42:09.207" v="1284" actId="20577"/>
          <ac:spMkLst>
            <pc:docMk/>
            <pc:sldMk cId="1481012431" sldId="295"/>
            <ac:spMk id="2" creationId="{0930A364-4CC7-43AE-A5BC-CB7C0AA2E2D8}"/>
          </ac:spMkLst>
        </pc:spChg>
        <pc:spChg chg="del">
          <ac:chgData name="KUTTY BABY" userId="59ba7503f6fe206c" providerId="LiveId" clId="{386F71DF-19A5-406B-8F85-18CCB3C7B5EC}" dt="2026-09-06T11:38:10.289" v="1122" actId="21"/>
          <ac:spMkLst>
            <pc:docMk/>
            <pc:sldMk cId="1481012431" sldId="295"/>
            <ac:spMk id="3" creationId="{85606907-FC0D-4E2B-8BD2-DB5D4F924242}"/>
          </ac:spMkLst>
        </pc:spChg>
      </pc:sldChg>
      <pc:sldChg chg="delSp modSp new del mod">
        <pc:chgData name="KUTTY BABY" userId="59ba7503f6fe206c" providerId="LiveId" clId="{386F71DF-19A5-406B-8F85-18CCB3C7B5EC}" dt="2026-09-06T11:38:03.434" v="1120" actId="2696"/>
        <pc:sldMkLst>
          <pc:docMk/>
          <pc:sldMk cId="1847212606" sldId="295"/>
        </pc:sldMkLst>
        <pc:spChg chg="mod">
          <ac:chgData name="KUTTY BABY" userId="59ba7503f6fe206c" providerId="LiveId" clId="{386F71DF-19A5-406B-8F85-18CCB3C7B5EC}" dt="2026-09-06T11:37:50.430" v="1119" actId="20577"/>
          <ac:spMkLst>
            <pc:docMk/>
            <pc:sldMk cId="1847212606" sldId="295"/>
            <ac:spMk id="2" creationId="{E6E7522A-1E98-4ED3-A4F0-BB5F31821A5D}"/>
          </ac:spMkLst>
        </pc:spChg>
        <pc:spChg chg="del">
          <ac:chgData name="KUTTY BABY" userId="59ba7503f6fe206c" providerId="LiveId" clId="{386F71DF-19A5-406B-8F85-18CCB3C7B5EC}" dt="2026-09-06T11:37:24.118" v="1096" actId="21"/>
          <ac:spMkLst>
            <pc:docMk/>
            <pc:sldMk cId="1847212606" sldId="295"/>
            <ac:spMk id="3" creationId="{8CE53961-3047-4EF5-8A04-2C4A8CFEE90B}"/>
          </ac:spMkLst>
        </pc:spChg>
      </pc:sldChg>
      <pc:sldChg chg="modSp new del mod">
        <pc:chgData name="KUTTY BABY" userId="59ba7503f6fe206c" providerId="LiveId" clId="{386F71DF-19A5-406B-8F85-18CCB3C7B5EC}" dt="2026-09-06T11:37:16.072" v="1094" actId="2696"/>
        <pc:sldMkLst>
          <pc:docMk/>
          <pc:sldMk cId="2704819430" sldId="295"/>
        </pc:sldMkLst>
        <pc:spChg chg="mod">
          <ac:chgData name="KUTTY BABY" userId="59ba7503f6fe206c" providerId="LiveId" clId="{386F71DF-19A5-406B-8F85-18CCB3C7B5EC}" dt="2026-09-06T11:36:41.801" v="1093" actId="20577"/>
          <ac:spMkLst>
            <pc:docMk/>
            <pc:sldMk cId="2704819430" sldId="295"/>
            <ac:spMk id="2" creationId="{EEB9FE93-DC39-41CE-A6C7-52747215AEC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9/6/2026</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3</a:t>
            </a:fld>
            <a:endParaRPr lang="en-US"/>
          </a:p>
        </p:txBody>
      </p:sp>
    </p:spTree>
    <p:extLst>
      <p:ext uri="{BB962C8B-B14F-4D97-AF65-F5344CB8AC3E}">
        <p14:creationId xmlns:p14="http://schemas.microsoft.com/office/powerpoint/2010/main" val="8545011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838339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5</a:t>
            </a:fld>
            <a:endParaRPr lang="en-US"/>
          </a:p>
        </p:txBody>
      </p:sp>
    </p:spTree>
    <p:extLst>
      <p:ext uri="{BB962C8B-B14F-4D97-AF65-F5344CB8AC3E}">
        <p14:creationId xmlns:p14="http://schemas.microsoft.com/office/powerpoint/2010/main" val="3155431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6</a:t>
            </a:fld>
            <a:endParaRPr lang="en-US"/>
          </a:p>
        </p:txBody>
      </p:sp>
    </p:spTree>
    <p:extLst>
      <p:ext uri="{BB962C8B-B14F-4D97-AF65-F5344CB8AC3E}">
        <p14:creationId xmlns:p14="http://schemas.microsoft.com/office/powerpoint/2010/main" val="27937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7</a:t>
            </a:fld>
            <a:endParaRPr lang="en-US"/>
          </a:p>
        </p:txBody>
      </p:sp>
    </p:spTree>
    <p:extLst>
      <p:ext uri="{BB962C8B-B14F-4D97-AF65-F5344CB8AC3E}">
        <p14:creationId xmlns:p14="http://schemas.microsoft.com/office/powerpoint/2010/main" val="1015613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9</a:t>
            </a:fld>
            <a:endParaRPr lang="en-US"/>
          </a:p>
        </p:txBody>
      </p:sp>
    </p:spTree>
    <p:extLst>
      <p:ext uri="{BB962C8B-B14F-4D97-AF65-F5344CB8AC3E}">
        <p14:creationId xmlns:p14="http://schemas.microsoft.com/office/powerpoint/2010/main" val="346767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10</a:t>
            </a:fld>
            <a:endParaRPr lang="en-US"/>
          </a:p>
        </p:txBody>
      </p:sp>
    </p:spTree>
    <p:extLst>
      <p:ext uri="{BB962C8B-B14F-4D97-AF65-F5344CB8AC3E}">
        <p14:creationId xmlns:p14="http://schemas.microsoft.com/office/powerpoint/2010/main" val="2986387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74E77-8F7F-C091-A6CD-F95913330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FF8D03-BCD3-2516-5A17-7890FD56F6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43AAD0-5D1A-5384-531C-8A99D3C1553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E54F1F-92BA-AFB1-9D22-E7208D0FEDEF}"/>
              </a:ext>
            </a:extLst>
          </p:cNvPr>
          <p:cNvSpPr>
            <a:spLocks noGrp="1"/>
          </p:cNvSpPr>
          <p:nvPr>
            <p:ph type="sldNum" sz="quarter" idx="5"/>
          </p:nvPr>
        </p:nvSpPr>
        <p:spPr/>
        <p:txBody>
          <a:bodyPr/>
          <a:lstStyle/>
          <a:p>
            <a:fld id="{55247812-3409-784D-BAE7-ABE53735D59F}" type="slidenum">
              <a:rPr lang="en-US" smtClean="0"/>
              <a:t>11</a:t>
            </a:fld>
            <a:endParaRPr lang="en-US"/>
          </a:p>
        </p:txBody>
      </p:sp>
    </p:spTree>
    <p:extLst>
      <p:ext uri="{BB962C8B-B14F-4D97-AF65-F5344CB8AC3E}">
        <p14:creationId xmlns:p14="http://schemas.microsoft.com/office/powerpoint/2010/main" val="4126273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9/6/2026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9/6/2026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9/6/2026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9/6/2026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9/6/2026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9/6/2026</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524000" y="2286000"/>
            <a:ext cx="9144000" cy="2286000"/>
          </a:xfrm>
        </p:spPr>
        <p:txBody>
          <a:bodyPr/>
          <a:lstStyle/>
          <a:p>
            <a:r>
              <a:rPr lang="en-US" dirty="0"/>
              <a:t>Bank analytics dashboard</a:t>
            </a:r>
            <a:br>
              <a:rPr lang="en-US" dirty="0"/>
            </a:br>
            <a:r>
              <a:rPr lang="en-US" dirty="0"/>
              <a:t>         </a:t>
            </a:r>
            <a:br>
              <a:rPr lang="en-US" dirty="0"/>
            </a:br>
            <a:r>
              <a:rPr lang="en-US" sz="3200" dirty="0"/>
              <a:t>                             by group:2</a:t>
            </a:r>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6562816" y="152400"/>
            <a:ext cx="4837176" cy="1123950"/>
          </a:xfrm>
          <a:noFill/>
        </p:spPr>
        <p:txBody>
          <a:bodyPr anchor="b">
            <a:noAutofit/>
          </a:bodyPr>
          <a:lstStyle/>
          <a:p>
            <a:pPr>
              <a:lnSpc>
                <a:spcPct val="100000"/>
              </a:lnSpc>
            </a:pPr>
            <a:r>
              <a:rPr lang="en-US" b="1" dirty="0"/>
              <a:t>Overview of bank dashboard</a:t>
            </a:r>
          </a:p>
        </p:txBody>
      </p:sp>
      <p:pic>
        <p:nvPicPr>
          <p:cNvPr id="15" name="Picture Placeholder 14" descr="A group of people sitting around a table">
            <a:extLst>
              <a:ext uri="{FF2B5EF4-FFF2-40B4-BE49-F238E27FC236}">
                <a16:creationId xmlns:a16="http://schemas.microsoft.com/office/drawing/2014/main" id="{E4DF753A-3575-A0D9-5135-8A94308DC038}"/>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2" r="2"/>
          <a:stretch/>
        </p:blipFill>
        <p:spPr/>
      </p:pic>
      <p:sp>
        <p:nvSpPr>
          <p:cNvPr id="3" name="Content Placeholder 2">
            <a:extLst>
              <a:ext uri="{FF2B5EF4-FFF2-40B4-BE49-F238E27FC236}">
                <a16:creationId xmlns:a16="http://schemas.microsoft.com/office/drawing/2014/main" id="{992EC4A8-49EE-CF82-CFDC-BA9308ED0D65}"/>
              </a:ext>
            </a:extLst>
          </p:cNvPr>
          <p:cNvSpPr>
            <a:spLocks noGrp="1"/>
          </p:cNvSpPr>
          <p:nvPr>
            <p:ph idx="1"/>
          </p:nvPr>
        </p:nvSpPr>
        <p:spPr>
          <a:xfrm>
            <a:off x="5905500" y="1276350"/>
            <a:ext cx="5580217" cy="4791075"/>
          </a:xfrm>
          <a:noFill/>
        </p:spPr>
        <p:txBody>
          <a:bodyPr anchor="t">
            <a:normAutofit/>
          </a:bodyPr>
          <a:lstStyle/>
          <a:p>
            <a:pPr>
              <a:lnSpc>
                <a:spcPct val="100000"/>
              </a:lnSpc>
            </a:pPr>
            <a:r>
              <a:rPr lang="en-US" sz="1600" b="1" dirty="0"/>
              <a:t>“</a:t>
            </a:r>
            <a:r>
              <a:rPr lang="en-US" sz="1600" i="1" dirty="0"/>
              <a:t>My project is a Banking Analytics Dashboard. The main objective of this project is to analyze loan data and understand the bank's loan portfolio, funding, collections, interest, verification status, delinquency, defaults, customer information and loan trends.</a:t>
            </a:r>
          </a:p>
          <a:p>
            <a:pPr>
              <a:lnSpc>
                <a:spcPct val="100000"/>
              </a:lnSpc>
            </a:pPr>
            <a:r>
              <a:rPr lang="en-US" b="1" dirty="0"/>
              <a:t>we worked with the data using four technologies: </a:t>
            </a:r>
          </a:p>
          <a:p>
            <a:pPr>
              <a:lnSpc>
                <a:spcPct val="100000"/>
              </a:lnSpc>
            </a:pPr>
            <a:r>
              <a:rPr lang="en-US" sz="1600" i="1" dirty="0"/>
              <a:t>Excel, SQL, Power BI and Tableau. Excel was mainly used for data cleaning and initial analysis, SQL was used for querying and calculating important metrics, and Power BI and Tableau were used to create interactive dashboards and visualizations.”</a:t>
            </a:r>
          </a:p>
          <a:p>
            <a:pPr>
              <a:lnSpc>
                <a:spcPct val="100000"/>
              </a:lnSpc>
            </a:pPr>
            <a:endParaRPr lang="en-US" sz="1600" b="1" dirty="0"/>
          </a:p>
        </p:txBody>
      </p:sp>
    </p:spTree>
    <p:extLst>
      <p:ext uri="{BB962C8B-B14F-4D97-AF65-F5344CB8AC3E}">
        <p14:creationId xmlns:p14="http://schemas.microsoft.com/office/powerpoint/2010/main" val="167201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727075" y="247649"/>
            <a:ext cx="10674350" cy="904875"/>
          </a:xfrm>
          <a:noFill/>
        </p:spPr>
        <p:txBody>
          <a:bodyPr>
            <a:noAutofit/>
          </a:bodyPr>
          <a:lstStyle/>
          <a:p>
            <a:r>
              <a:rPr lang="en-US" dirty="0"/>
              <a:t>What we learned in this banking analytics dashboard</a:t>
            </a:r>
          </a:p>
        </p:txBody>
      </p:sp>
      <p:sp>
        <p:nvSpPr>
          <p:cNvPr id="15" name="Subtitle 14">
            <a:extLst>
              <a:ext uri="{FF2B5EF4-FFF2-40B4-BE49-F238E27FC236}">
                <a16:creationId xmlns:a16="http://schemas.microsoft.com/office/drawing/2014/main" id="{9C373000-EEA1-D16F-189A-338FFDA2E708}"/>
              </a:ext>
            </a:extLst>
          </p:cNvPr>
          <p:cNvSpPr>
            <a:spLocks noGrp="1"/>
          </p:cNvSpPr>
          <p:nvPr>
            <p:ph type="subTitle" idx="1"/>
          </p:nvPr>
        </p:nvSpPr>
        <p:spPr>
          <a:xfrm>
            <a:off x="323851" y="1285874"/>
            <a:ext cx="11353800" cy="5419725"/>
          </a:xfrm>
        </p:spPr>
        <p:txBody>
          <a:bodyPr>
            <a:normAutofit fontScale="25000" lnSpcReduction="20000"/>
          </a:bodyPr>
          <a:lstStyle/>
          <a:p>
            <a:pPr algn="l"/>
            <a:endParaRPr lang="en-US" dirty="0"/>
          </a:p>
          <a:p>
            <a:pPr algn="l"/>
            <a:endParaRPr lang="en-US" dirty="0"/>
          </a:p>
          <a:p>
            <a:pPr algn="l"/>
            <a:endParaRPr lang="en-US" b="1" dirty="0"/>
          </a:p>
          <a:p>
            <a:pPr algn="l"/>
            <a:endParaRPr lang="en-US" dirty="0"/>
          </a:p>
          <a:p>
            <a:pPr algn="l"/>
            <a:endParaRPr lang="en-US" dirty="0"/>
          </a:p>
          <a:p>
            <a:pPr algn="l"/>
            <a:endParaRPr lang="en-US" dirty="0"/>
          </a:p>
          <a:p>
            <a:pPr algn="l"/>
            <a:endParaRPr lang="en-US" dirty="0"/>
          </a:p>
          <a:p>
            <a:pPr algn="l"/>
            <a:endParaRPr lang="en-US" dirty="0"/>
          </a:p>
          <a:p>
            <a:pPr algn="l">
              <a:lnSpc>
                <a:spcPct val="120000"/>
              </a:lnSpc>
            </a:pPr>
            <a:r>
              <a:rPr lang="en-US" sz="8000" dirty="0"/>
              <a:t>“Through this Banking Analytics Dashboard project, we learned the complete process of data analysis, starting from raw data and ending with a business dashboard.</a:t>
            </a:r>
          </a:p>
          <a:p>
            <a:pPr algn="l">
              <a:lnSpc>
                <a:spcPct val="120000"/>
              </a:lnSpc>
            </a:pPr>
            <a:r>
              <a:rPr lang="en-US" sz="8000" dirty="0"/>
              <a:t>We learned how to clean and prepare data in Excel, use Pivot Tables and formulas for initial analysis, and use SQL to query, filter, group and aggregate data.</a:t>
            </a:r>
          </a:p>
          <a:p>
            <a:pPr algn="l">
              <a:lnSpc>
                <a:spcPct val="120000"/>
              </a:lnSpc>
            </a:pPr>
            <a:r>
              <a:rPr lang="en-US" sz="8000" dirty="0"/>
              <a:t>We learned how to create KPIs and calculated measures such as Total Loans, Total Funded Amount, Total Collection, Total Interest, Verified Loans, Delinquent Loans, Delinquent Rate, Default Loans and Default Rate.</a:t>
            </a:r>
          </a:p>
          <a:p>
            <a:pPr algn="l">
              <a:lnSpc>
                <a:spcPct val="120000"/>
              </a:lnSpc>
            </a:pPr>
            <a:r>
              <a:rPr lang="en-US" sz="8000" dirty="0"/>
              <a:t>We also learned how to use Power BI and Tableau to create interactive dashboards, including KPI cards, charts, slicers, filters and proper dashboard formatting.</a:t>
            </a:r>
          </a:p>
          <a:p>
            <a:pPr algn="l">
              <a:lnSpc>
                <a:spcPct val="120000"/>
              </a:lnSpc>
            </a:pPr>
            <a:r>
              <a:rPr lang="en-US" sz="8000" dirty="0"/>
              <a:t>Most importantly, we learned how to convert raw banking data into meaningful business insights, identify loan trends and understand areas such as funding, collections, verification and loan risk.”</a:t>
            </a:r>
          </a:p>
          <a:p>
            <a:pPr algn="l">
              <a:lnSpc>
                <a:spcPct val="120000"/>
              </a:lnSpc>
            </a:pPr>
            <a:endParaRPr lang="en-US" sz="2600" dirty="0"/>
          </a:p>
          <a:p>
            <a:pPr algn="l"/>
            <a:r>
              <a:rPr lang="en-US" sz="2600" dirty="0"/>
              <a:t>  </a:t>
            </a:r>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p:txBody>
      </p:sp>
    </p:spTree>
    <p:extLst>
      <p:ext uri="{BB962C8B-B14F-4D97-AF65-F5344CB8AC3E}">
        <p14:creationId xmlns:p14="http://schemas.microsoft.com/office/powerpoint/2010/main" val="3930438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4591051" y="190500"/>
            <a:ext cx="6893026" cy="906780"/>
          </a:xfrm>
          <a:noFill/>
        </p:spPr>
        <p:txBody>
          <a:bodyPr anchor="ctr"/>
          <a:lstStyle/>
          <a:p>
            <a:r>
              <a:rPr lang="en-US" b="1" dirty="0"/>
              <a:t>Problem’s we faced through this project </a:t>
            </a:r>
          </a:p>
        </p:txBody>
      </p:sp>
      <p:pic>
        <p:nvPicPr>
          <p:cNvPr id="20" name="Picture Placeholder 7" descr="A person talking to another person">
            <a:extLst>
              <a:ext uri="{FF2B5EF4-FFF2-40B4-BE49-F238E27FC236}">
                <a16:creationId xmlns:a16="http://schemas.microsoft.com/office/drawing/2014/main" id="{59669B42-CC26-1A2A-1FE7-526E425D0191}"/>
              </a:ext>
            </a:extLst>
          </p:cNvPr>
          <p:cNvPicPr>
            <a:picLocks noGrp="1" noChangeAspect="1"/>
          </p:cNvPicPr>
          <p:nvPr>
            <p:ph type="pic" sz="quarter" idx="10"/>
          </p:nvPr>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l="10437" r="10437"/>
          <a:stretch/>
        </p:blipFill>
        <p:spPr>
          <a:xfrm>
            <a:off x="0" y="0"/>
            <a:ext cx="4287838" cy="6858000"/>
          </a:xfrm>
        </p:spPr>
      </p:pic>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4457700" y="1190625"/>
            <a:ext cx="7429500" cy="4962525"/>
          </a:xfrm>
          <a:noFill/>
        </p:spPr>
        <p:txBody>
          <a:bodyPr vert="horz" lIns="91440" tIns="45720" rIns="91440" bIns="45720" rtlCol="0" anchor="t">
            <a:normAutofit lnSpcReduction="10000"/>
          </a:bodyPr>
          <a:lstStyle/>
          <a:p>
            <a:r>
              <a:rPr lang="en-US" b="1" dirty="0"/>
              <a:t>Data cleaning: </a:t>
            </a:r>
            <a:r>
              <a:rPr lang="en-US" dirty="0"/>
              <a:t>We faced blank and missing values in the banking data, so we had to clean the data before analysis.</a:t>
            </a:r>
          </a:p>
          <a:p>
            <a:r>
              <a:rPr lang="en-US" b="1" dirty="0"/>
              <a:t>Understanding the data: </a:t>
            </a:r>
            <a:r>
              <a:rPr lang="en-US" dirty="0"/>
              <a:t>There were many columns, so initially it was difficult to understand which columns should be used for each KPI and chart.</a:t>
            </a:r>
          </a:p>
          <a:p>
            <a:r>
              <a:rPr lang="en-US" b="1" dirty="0"/>
              <a:t>SQL and DAX errors: </a:t>
            </a:r>
            <a:r>
              <a:rPr lang="en-US" dirty="0"/>
              <a:t>We faced some errors while writing SQL queries and Power BI DAX formulas, especially with table and column names.</a:t>
            </a:r>
          </a:p>
          <a:p>
            <a:r>
              <a:rPr lang="en-US" b="1" dirty="0"/>
              <a:t>Null values in Power BI: </a:t>
            </a:r>
            <a:r>
              <a:rPr lang="en-US" dirty="0"/>
              <a:t>When we imported the wrong sheet, many values appeared as null. We solved this by importing the original Banking Data sheet.</a:t>
            </a:r>
          </a:p>
          <a:p>
            <a:r>
              <a:rPr lang="en-US" b="1" dirty="0"/>
              <a:t>Alignment and formatting: </a:t>
            </a:r>
            <a:r>
              <a:rPr lang="en-US" dirty="0"/>
              <a:t>The KPI cards, charts, slicers and text were not properly aligned at first. We adjusted their size, position and spacing to make the dashboard look professional.</a:t>
            </a:r>
          </a:p>
          <a:p>
            <a:r>
              <a:rPr lang="en-US" b="1" dirty="0"/>
              <a:t>Chart selection: </a:t>
            </a:r>
            <a:r>
              <a:rPr lang="en-US" dirty="0"/>
              <a:t>It was difficult to choose the right chart for each type of data, so we selected charts based on what we wanted to show clearly.</a:t>
            </a:r>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200025" y="219075"/>
            <a:ext cx="11668125" cy="1562099"/>
          </a:xfrm>
          <a:noFill/>
        </p:spPr>
        <p:txBody>
          <a:bodyPr/>
          <a:lstStyle/>
          <a:p>
            <a:r>
              <a:rPr lang="en-US" b="1" dirty="0"/>
              <a:t>What all </a:t>
            </a:r>
            <a:r>
              <a:rPr lang="en-US" b="1" dirty="0" err="1"/>
              <a:t>kpi’s</a:t>
            </a:r>
            <a:r>
              <a:rPr lang="en-US" b="1" dirty="0"/>
              <a:t> are used for the dashboard</a:t>
            </a:r>
            <a:r>
              <a:rPr lang="en-US" sz="4000" b="1" dirty="0"/>
              <a:t> </a:t>
            </a:r>
          </a:p>
        </p:txBody>
      </p:sp>
      <p:sp>
        <p:nvSpPr>
          <p:cNvPr id="12" name="Subtitle 11">
            <a:extLst>
              <a:ext uri="{FF2B5EF4-FFF2-40B4-BE49-F238E27FC236}">
                <a16:creationId xmlns:a16="http://schemas.microsoft.com/office/drawing/2014/main" id="{A336FEA9-C85A-3569-16F0-5ECBABBE0BEC}"/>
              </a:ext>
            </a:extLst>
          </p:cNvPr>
          <p:cNvSpPr>
            <a:spLocks noGrp="1"/>
          </p:cNvSpPr>
          <p:nvPr>
            <p:ph type="subTitle" idx="1"/>
          </p:nvPr>
        </p:nvSpPr>
        <p:spPr>
          <a:xfrm>
            <a:off x="371475" y="2047875"/>
            <a:ext cx="11201399" cy="4591049"/>
          </a:xfrm>
        </p:spPr>
        <p:txBody>
          <a:bodyPr>
            <a:normAutofit fontScale="40000" lnSpcReduction="20000"/>
          </a:bodyPr>
          <a:lstStyle/>
          <a:p>
            <a:endParaRPr lang="en-US" dirty="0"/>
          </a:p>
          <a:p>
            <a:endParaRPr lang="en-US" dirty="0"/>
          </a:p>
          <a:p>
            <a:endParaRPr lang="en-US" dirty="0"/>
          </a:p>
          <a:p>
            <a:pPr algn="l"/>
            <a:r>
              <a:rPr lang="en-US" sz="2900" b="1" dirty="0"/>
              <a:t>🏦 </a:t>
            </a:r>
            <a:r>
              <a:rPr lang="en-US" sz="4000" b="1" dirty="0"/>
              <a:t>Loan Analytics Dashboard -4 </a:t>
            </a:r>
            <a:r>
              <a:rPr lang="en-US" sz="4000" b="1" dirty="0" err="1"/>
              <a:t>kpis</a:t>
            </a:r>
            <a:endParaRPr lang="en-US" sz="4000" b="1" dirty="0"/>
          </a:p>
          <a:p>
            <a:pPr algn="l"/>
            <a:endParaRPr lang="en-US" sz="2900" b="1" dirty="0"/>
          </a:p>
          <a:p>
            <a:pPr algn="l"/>
            <a:r>
              <a:rPr lang="en-US" sz="3500" b="1" dirty="0"/>
              <a:t>Total Loans </a:t>
            </a:r>
            <a:r>
              <a:rPr lang="en-US" sz="3500" dirty="0"/>
              <a:t>– Total number of loans in the dataset.</a:t>
            </a:r>
          </a:p>
          <a:p>
            <a:pPr algn="l"/>
            <a:r>
              <a:rPr lang="en-US" sz="3500" b="1" dirty="0"/>
              <a:t>Total Funded Amount </a:t>
            </a:r>
            <a:r>
              <a:rPr lang="en-US" sz="3500" dirty="0"/>
              <a:t>– Total amount funded by the bank.</a:t>
            </a:r>
          </a:p>
          <a:p>
            <a:pPr algn="l"/>
            <a:r>
              <a:rPr lang="en-US" sz="3500" b="1" dirty="0"/>
              <a:t>Total Collection </a:t>
            </a:r>
            <a:r>
              <a:rPr lang="en-US" sz="3500" dirty="0"/>
              <a:t>– Total amount collected from customers.</a:t>
            </a:r>
          </a:p>
          <a:p>
            <a:pPr algn="l"/>
            <a:r>
              <a:rPr lang="en-US" sz="3500" b="1" dirty="0"/>
              <a:t>Default Rate </a:t>
            </a:r>
            <a:r>
              <a:rPr lang="en-US" sz="3500" dirty="0"/>
              <a:t>– Percentage of loans that are in default.</a:t>
            </a:r>
          </a:p>
          <a:p>
            <a:pPr algn="l"/>
            <a:endParaRPr lang="en-US" sz="3500" dirty="0"/>
          </a:p>
          <a:p>
            <a:pPr algn="l"/>
            <a:r>
              <a:rPr lang="en-US" dirty="0"/>
              <a:t>💳 </a:t>
            </a:r>
            <a:r>
              <a:rPr lang="en-US" sz="4000" b="1" dirty="0"/>
              <a:t>Credit &amp; Debit Dashboard – 4 KPIs</a:t>
            </a:r>
          </a:p>
          <a:p>
            <a:pPr algn="l"/>
            <a:endParaRPr lang="en-US" sz="4000" b="1" dirty="0"/>
          </a:p>
          <a:p>
            <a:pPr algn="l"/>
            <a:r>
              <a:rPr lang="en-US" sz="3400" b="1" dirty="0"/>
              <a:t>Total Credit Amount </a:t>
            </a:r>
            <a:r>
              <a:rPr lang="en-US" sz="3400" dirty="0"/>
              <a:t>– Total amount credited through transactions.</a:t>
            </a:r>
          </a:p>
          <a:p>
            <a:pPr algn="l"/>
            <a:r>
              <a:rPr lang="en-US" sz="3400" b="1" dirty="0"/>
              <a:t>Total Debit Amount </a:t>
            </a:r>
            <a:r>
              <a:rPr lang="en-US" sz="3400" dirty="0"/>
              <a:t>– Total amount debited through transactions.</a:t>
            </a:r>
          </a:p>
          <a:p>
            <a:pPr algn="l"/>
            <a:r>
              <a:rPr lang="en-US" sz="3400" b="1" dirty="0"/>
              <a:t>Credit to Debit Ratio </a:t>
            </a:r>
            <a:r>
              <a:rPr lang="en-US" sz="3400" dirty="0"/>
              <a:t>– Compares the total credit amount with the total debit amount.</a:t>
            </a:r>
          </a:p>
          <a:p>
            <a:pPr algn="l"/>
            <a:r>
              <a:rPr lang="en-US" sz="3400" b="1" dirty="0"/>
              <a:t>Net Transaction Amount </a:t>
            </a:r>
            <a:r>
              <a:rPr lang="en-US" sz="3400" dirty="0"/>
              <a:t>– Difference between the total credit and debit amounts.</a:t>
            </a:r>
          </a:p>
          <a:p>
            <a:endParaRPr lang="en-US" sz="3400"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679936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E13C5D9-A80F-45EA-8274-A727C7371DE7}"/>
              </a:ext>
            </a:extLst>
          </p:cNvPr>
          <p:cNvSpPr>
            <a:spLocks noGrp="1"/>
          </p:cNvSpPr>
          <p:nvPr>
            <p:ph type="title"/>
          </p:nvPr>
        </p:nvSpPr>
        <p:spPr>
          <a:xfrm>
            <a:off x="220664" y="365760"/>
            <a:ext cx="5646736" cy="481965"/>
          </a:xfrm>
        </p:spPr>
        <p:txBody>
          <a:bodyPr/>
          <a:lstStyle/>
          <a:p>
            <a:pPr algn="l"/>
            <a:r>
              <a:rPr lang="en-US" b="1" dirty="0"/>
              <a:t>Excel loan  dashboard</a:t>
            </a:r>
            <a:r>
              <a:rPr lang="en-US" dirty="0"/>
              <a:t>:</a:t>
            </a:r>
          </a:p>
        </p:txBody>
      </p:sp>
      <p:pic>
        <p:nvPicPr>
          <p:cNvPr id="9" name="Content Placeholder 8">
            <a:extLst>
              <a:ext uri="{FF2B5EF4-FFF2-40B4-BE49-F238E27FC236}">
                <a16:creationId xmlns:a16="http://schemas.microsoft.com/office/drawing/2014/main" id="{6221C456-E424-46DB-8FC6-E75EED03A4D0}"/>
              </a:ext>
            </a:extLst>
          </p:cNvPr>
          <p:cNvPicPr>
            <a:picLocks noGrp="1" noChangeAspect="1"/>
          </p:cNvPicPr>
          <p:nvPr>
            <p:ph sz="quarter" idx="15"/>
          </p:nvPr>
        </p:nvPicPr>
        <p:blipFill>
          <a:blip r:embed="rId3">
            <a:extLst>
              <a:ext uri="{28A0092B-C50C-407E-A947-70E740481C1C}">
                <a14:useLocalDpi xmlns:a14="http://schemas.microsoft.com/office/drawing/2010/main" val="0"/>
              </a:ext>
            </a:extLst>
          </a:blip>
          <a:stretch>
            <a:fillRect/>
          </a:stretch>
        </p:blipFill>
        <p:spPr>
          <a:xfrm>
            <a:off x="220663" y="989013"/>
            <a:ext cx="6246812" cy="4573587"/>
          </a:xfrm>
          <a:noFill/>
        </p:spPr>
      </p:pic>
      <p:sp>
        <p:nvSpPr>
          <p:cNvPr id="4" name="Content Placeholder 3">
            <a:extLst>
              <a:ext uri="{FF2B5EF4-FFF2-40B4-BE49-F238E27FC236}">
                <a16:creationId xmlns:a16="http://schemas.microsoft.com/office/drawing/2014/main" id="{ACFBB810-3430-2C29-1AA0-9744AA0A1AA3}"/>
              </a:ext>
            </a:extLst>
          </p:cNvPr>
          <p:cNvSpPr>
            <a:spLocks noGrp="1"/>
          </p:cNvSpPr>
          <p:nvPr>
            <p:ph sz="quarter" idx="4294967295"/>
          </p:nvPr>
        </p:nvSpPr>
        <p:spPr>
          <a:xfrm>
            <a:off x="6696075" y="771525"/>
            <a:ext cx="5275262" cy="5286375"/>
          </a:xfrm>
          <a:noFill/>
        </p:spPr>
        <p:txBody>
          <a:bodyPr>
            <a:normAutofit fontScale="77500" lnSpcReduction="20000"/>
          </a:bodyPr>
          <a:lstStyle/>
          <a:p>
            <a:r>
              <a:rPr lang="en-US" b="1" dirty="0"/>
              <a:t>Data Cleaning </a:t>
            </a:r>
            <a:r>
              <a:rPr lang="en-US" dirty="0"/>
              <a:t>– We cleaned the raw banking data and handled blank or missing values.</a:t>
            </a:r>
          </a:p>
          <a:p>
            <a:r>
              <a:rPr lang="en-US" b="1" dirty="0"/>
              <a:t>Sorting &amp; Filtering </a:t>
            </a:r>
            <a:r>
              <a:rPr lang="en-US" dirty="0"/>
              <a:t>– We filtered and sorted the data to analyze specific loans, transactions, banks and branches.</a:t>
            </a:r>
          </a:p>
          <a:p>
            <a:r>
              <a:rPr lang="en-US" b="1" dirty="0"/>
              <a:t>Formulas </a:t>
            </a:r>
            <a:r>
              <a:rPr lang="en-US" dirty="0"/>
              <a:t>– We used Excel formulas to calculate totals, percentages and important metrics.</a:t>
            </a:r>
          </a:p>
          <a:p>
            <a:r>
              <a:rPr lang="en-US" b="1" dirty="0"/>
              <a:t>Pivot Tables </a:t>
            </a:r>
            <a:r>
              <a:rPr lang="en-US" dirty="0"/>
              <a:t>– We created Pivot Tables to summarize loans, funding, credit, debit and transactions.</a:t>
            </a:r>
          </a:p>
          <a:p>
            <a:r>
              <a:rPr lang="en-US" b="1" dirty="0"/>
              <a:t>KPI Calculation </a:t>
            </a:r>
            <a:r>
              <a:rPr lang="en-US" dirty="0"/>
              <a:t>– We calculated important KPIs such as Total Loans, Total Funded Amount, Total Credit Amount and Total Debit Amount.</a:t>
            </a:r>
          </a:p>
          <a:p>
            <a:r>
              <a:rPr lang="en-US" b="1" dirty="0"/>
              <a:t>Data Analysis </a:t>
            </a:r>
            <a:r>
              <a:rPr lang="en-US" dirty="0"/>
              <a:t>– We used the Excel results to understand trends and prepare the data for Power BI and Tableau dashboards.</a:t>
            </a:r>
          </a:p>
        </p:txBody>
      </p:sp>
      <p:sp>
        <p:nvSpPr>
          <p:cNvPr id="5" name="Rectangle 4">
            <a:extLst>
              <a:ext uri="{FF2B5EF4-FFF2-40B4-BE49-F238E27FC236}">
                <a16:creationId xmlns:a16="http://schemas.microsoft.com/office/drawing/2014/main" id="{46AA2678-D2AD-6101-2A00-2289475AE8C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2243159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238125" y="365760"/>
            <a:ext cx="7953375" cy="739140"/>
          </a:xfrm>
          <a:noFill/>
        </p:spPr>
        <p:txBody>
          <a:bodyPr anchor="ctr"/>
          <a:lstStyle/>
          <a:p>
            <a:r>
              <a:rPr lang="en-US" b="1" dirty="0"/>
              <a:t>Excel credit and debit dashboard:</a:t>
            </a:r>
          </a:p>
        </p:txBody>
      </p:sp>
      <p:pic>
        <p:nvPicPr>
          <p:cNvPr id="6" name="Content Placeholder 5">
            <a:extLst>
              <a:ext uri="{FF2B5EF4-FFF2-40B4-BE49-F238E27FC236}">
                <a16:creationId xmlns:a16="http://schemas.microsoft.com/office/drawing/2014/main" id="{14131C8B-4F72-4B6F-BF64-5CE092053608}"/>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38124" y="1228725"/>
            <a:ext cx="5857875" cy="3990975"/>
          </a:xfrm>
        </p:spPr>
      </p:pic>
      <p:sp>
        <p:nvSpPr>
          <p:cNvPr id="4" name="Content Placeholder 3">
            <a:extLst>
              <a:ext uri="{FF2B5EF4-FFF2-40B4-BE49-F238E27FC236}">
                <a16:creationId xmlns:a16="http://schemas.microsoft.com/office/drawing/2014/main" id="{83302BFD-960F-CBB3-E984-CDC12813A10C}"/>
              </a:ext>
            </a:extLst>
          </p:cNvPr>
          <p:cNvSpPr>
            <a:spLocks noGrp="1"/>
          </p:cNvSpPr>
          <p:nvPr>
            <p:ph sz="quarter" idx="14"/>
          </p:nvPr>
        </p:nvSpPr>
        <p:spPr>
          <a:xfrm>
            <a:off x="6200775" y="1104900"/>
            <a:ext cx="5753099" cy="4867275"/>
          </a:xfrm>
          <a:noFill/>
        </p:spPr>
        <p:txBody>
          <a:bodyPr>
            <a:normAutofit/>
          </a:bodyPr>
          <a:lstStyle/>
          <a:p>
            <a:r>
              <a:rPr lang="en-US" b="1" dirty="0"/>
              <a:t>Data Cleaning </a:t>
            </a:r>
            <a:r>
              <a:rPr lang="en-US" dirty="0"/>
              <a:t>– We cleaned the transaction data and handled blank or incorrect values.</a:t>
            </a:r>
          </a:p>
          <a:p>
            <a:r>
              <a:rPr lang="en-US" b="1" dirty="0"/>
              <a:t>Sorting &amp; Filtering </a:t>
            </a:r>
            <a:r>
              <a:rPr lang="en-US" dirty="0"/>
              <a:t>– We filtered transactions based on bank, branch, month, transaction type and transaction method.</a:t>
            </a:r>
          </a:p>
          <a:p>
            <a:r>
              <a:rPr lang="en-US" b="1" dirty="0"/>
              <a:t>Pivot Tables </a:t>
            </a:r>
            <a:r>
              <a:rPr lang="en-US" dirty="0"/>
              <a:t>– We used Pivot Tables to summarize credit amount, debit amount and transaction volume.</a:t>
            </a:r>
          </a:p>
          <a:p>
            <a:r>
              <a:rPr lang="en-US" b="1" dirty="0"/>
              <a:t>KPI Calculation </a:t>
            </a:r>
            <a:r>
              <a:rPr lang="en-US" dirty="0"/>
              <a:t>– We calculated important KPIs such as Total Credit Amount, Total Debit Amount, Credit-to-Debit Ratio and Net Transaction Amount.</a:t>
            </a:r>
          </a:p>
          <a:p>
            <a:r>
              <a:rPr lang="en-US" b="1" dirty="0"/>
              <a:t>Transaction Analysis </a:t>
            </a:r>
            <a:r>
              <a:rPr lang="en-US" dirty="0"/>
              <a:t>– We analyzed monthly transactions, bank-wise and branch-wise transaction amounts, and identified high-risk and suspicious transactions.</a:t>
            </a:r>
          </a:p>
          <a:p>
            <a:r>
              <a:rPr lang="en-US" b="1" dirty="0"/>
              <a:t>Data Preparation </a:t>
            </a:r>
            <a:r>
              <a:rPr lang="en-US" dirty="0"/>
              <a:t>– We prepared the analyzed data so it could be used to create the Power BI/Tableau dashboard.</a:t>
            </a:r>
          </a:p>
        </p:txBody>
      </p:sp>
      <p:sp>
        <p:nvSpPr>
          <p:cNvPr id="5" name="Rectangle 4">
            <a:extLst>
              <a:ext uri="{FF2B5EF4-FFF2-40B4-BE49-F238E27FC236}">
                <a16:creationId xmlns:a16="http://schemas.microsoft.com/office/drawing/2014/main" id="{C80227B8-A24C-8C29-034A-D7700B887685}"/>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729609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0A520-0E12-41D9-96A7-1ED706D5F10B}"/>
              </a:ext>
            </a:extLst>
          </p:cNvPr>
          <p:cNvSpPr>
            <a:spLocks noGrp="1"/>
          </p:cNvSpPr>
          <p:nvPr>
            <p:ph type="title"/>
          </p:nvPr>
        </p:nvSpPr>
        <p:spPr>
          <a:xfrm>
            <a:off x="146304" y="118872"/>
            <a:ext cx="8961120" cy="577158"/>
          </a:xfrm>
        </p:spPr>
        <p:txBody>
          <a:bodyPr/>
          <a:lstStyle/>
          <a:p>
            <a:r>
              <a:rPr lang="en-US" b="1" dirty="0"/>
              <a:t>Power bi loan and credit dashboard:</a:t>
            </a:r>
          </a:p>
        </p:txBody>
      </p:sp>
      <p:pic>
        <p:nvPicPr>
          <p:cNvPr id="11" name="Content Placeholder 10">
            <a:extLst>
              <a:ext uri="{FF2B5EF4-FFF2-40B4-BE49-F238E27FC236}">
                <a16:creationId xmlns:a16="http://schemas.microsoft.com/office/drawing/2014/main" id="{B570A54F-71E4-4207-A7A2-6A270D61EA51}"/>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5875338" y="1058114"/>
            <a:ext cx="5984875" cy="3760773"/>
          </a:xfrm>
        </p:spPr>
      </p:pic>
      <p:pic>
        <p:nvPicPr>
          <p:cNvPr id="9" name="Content Placeholder 8">
            <a:extLst>
              <a:ext uri="{FF2B5EF4-FFF2-40B4-BE49-F238E27FC236}">
                <a16:creationId xmlns:a16="http://schemas.microsoft.com/office/drawing/2014/main" id="{B3452FF8-FBE5-41A2-85B6-19C58D5420A7}"/>
              </a:ext>
            </a:extLst>
          </p:cNvPr>
          <p:cNvPicPr>
            <a:picLocks noGrp="1" noChangeAspect="1"/>
          </p:cNvPicPr>
          <p:nvPr>
            <p:ph sz="quarter" idx="13"/>
          </p:nvPr>
        </p:nvPicPr>
        <p:blipFill>
          <a:blip r:embed="rId3"/>
          <a:stretch>
            <a:fillRect/>
          </a:stretch>
        </p:blipFill>
        <p:spPr>
          <a:xfrm>
            <a:off x="146304" y="969264"/>
            <a:ext cx="5312918" cy="3849624"/>
          </a:xfrm>
          <a:prstGeom prst="rect">
            <a:avLst/>
          </a:prstGeom>
        </p:spPr>
      </p:pic>
    </p:spTree>
    <p:extLst>
      <p:ext uri="{BB962C8B-B14F-4D97-AF65-F5344CB8AC3E}">
        <p14:creationId xmlns:p14="http://schemas.microsoft.com/office/powerpoint/2010/main" val="1632722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88392" y="137161"/>
            <a:ext cx="10515600" cy="658368"/>
          </a:xfrm>
          <a:noFill/>
        </p:spPr>
        <p:txBody>
          <a:bodyPr anchor="ctr">
            <a:noAutofit/>
          </a:bodyPr>
          <a:lstStyle/>
          <a:p>
            <a:r>
              <a:rPr lang="en-US" b="1" dirty="0"/>
              <a:t>Power bi loan and credit dashboard:</a:t>
            </a:r>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sz="quarter" idx="15"/>
          </p:nvPr>
        </p:nvSpPr>
        <p:spPr>
          <a:xfrm>
            <a:off x="365760" y="1243584"/>
            <a:ext cx="10238232" cy="3803904"/>
          </a:xfrm>
          <a:noFill/>
        </p:spPr>
        <p:txBody>
          <a:bodyPr vert="horz" lIns="91440" tIns="45720" rIns="91440" bIns="45720" rtlCol="0" anchor="t">
            <a:normAutofit/>
          </a:bodyPr>
          <a:lstStyle/>
          <a:p>
            <a:r>
              <a:rPr lang="en-US" b="1" dirty="0"/>
              <a:t>Data Import &amp; Cleaning </a:t>
            </a:r>
            <a:r>
              <a:rPr lang="en-US" dirty="0"/>
              <a:t>– We imported both datasets into Power BI and cleaned them using Power Query.</a:t>
            </a:r>
          </a:p>
          <a:p>
            <a:r>
              <a:rPr lang="en-US" b="1" dirty="0"/>
              <a:t>KPI Creation </a:t>
            </a:r>
            <a:r>
              <a:rPr lang="en-US" dirty="0"/>
              <a:t>– We created DAX measures for important KPIs like Total Loans, Funded Amount, Credit Amount, Debit Amount and Default Rate.</a:t>
            </a:r>
          </a:p>
          <a:p>
            <a:r>
              <a:rPr lang="en-US" b="1" dirty="0"/>
              <a:t>Data Visualization</a:t>
            </a:r>
            <a:r>
              <a:rPr lang="en-US" dirty="0"/>
              <a:t> – We created different charts to analyze loans, transactions, banks, branches, loan status and trends.</a:t>
            </a:r>
          </a:p>
          <a:p>
            <a:r>
              <a:rPr lang="en-US" b="1" dirty="0"/>
              <a:t>Interactive Filters </a:t>
            </a:r>
            <a:r>
              <a:rPr lang="en-US" dirty="0"/>
              <a:t>– We added slicers and filters to analyze the data based on different categories.</a:t>
            </a:r>
          </a:p>
          <a:p>
            <a:r>
              <a:rPr lang="en-US" b="1" dirty="0"/>
              <a:t>Dashboard Formatting </a:t>
            </a:r>
            <a:r>
              <a:rPr lang="en-US" dirty="0"/>
              <a:t>– We worked on alignment, sizing, data labels, currency and percentage formatting to make the dashboards clear and professional.</a:t>
            </a:r>
          </a:p>
          <a:p>
            <a:r>
              <a:rPr lang="en-US" b="1" dirty="0"/>
              <a:t>Final Analysis </a:t>
            </a:r>
            <a:r>
              <a:rPr lang="en-US" dirty="0"/>
              <a:t>– We used the dashboards to identify loan performance, transaction activity, high-risk transactions and other important business insights.</a:t>
            </a:r>
          </a:p>
        </p:txBody>
      </p:sp>
    </p:spTree>
    <p:extLst>
      <p:ext uri="{BB962C8B-B14F-4D97-AF65-F5344CB8AC3E}">
        <p14:creationId xmlns:p14="http://schemas.microsoft.com/office/powerpoint/2010/main" val="4259977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100584" y="365761"/>
            <a:ext cx="9363456" cy="685800"/>
          </a:xfrm>
          <a:noFill/>
        </p:spPr>
        <p:txBody>
          <a:bodyPr anchor="ctr"/>
          <a:lstStyle/>
          <a:p>
            <a:r>
              <a:rPr lang="en-US" b="1" dirty="0"/>
              <a:t>Tableau loan and credit dashboard:</a:t>
            </a:r>
          </a:p>
        </p:txBody>
      </p:sp>
      <p:pic>
        <p:nvPicPr>
          <p:cNvPr id="11" name="Content Placeholder 10">
            <a:extLst>
              <a:ext uri="{FF2B5EF4-FFF2-40B4-BE49-F238E27FC236}">
                <a16:creationId xmlns:a16="http://schemas.microsoft.com/office/drawing/2014/main" id="{50A30661-AFC2-4F17-8822-D46E1A2A143E}"/>
              </a:ext>
            </a:extLst>
          </p:cNvPr>
          <p:cNvPicPr>
            <a:picLocks noGrp="1" noChangeAspect="1"/>
          </p:cNvPicPr>
          <p:nvPr>
            <p:ph sz="quarter" idx="16"/>
          </p:nvPr>
        </p:nvPicPr>
        <p:blipFill>
          <a:blip r:embed="rId3"/>
          <a:stretch>
            <a:fillRect/>
          </a:stretch>
        </p:blipFill>
        <p:spPr>
          <a:xfrm>
            <a:off x="6219825" y="1216152"/>
            <a:ext cx="5642991" cy="4023359"/>
          </a:xfrm>
          <a:noFill/>
        </p:spPr>
      </p:pic>
      <p:sp>
        <p:nvSpPr>
          <p:cNvPr id="5" name="Rectangle 4">
            <a:extLst>
              <a:ext uri="{FF2B5EF4-FFF2-40B4-BE49-F238E27FC236}">
                <a16:creationId xmlns:a16="http://schemas.microsoft.com/office/drawing/2014/main" id="{3EE39F69-A1C6-AF25-B91E-7EEE8ED9E9D8}"/>
              </a:ext>
              <a:ext uri="{C183D7F6-B498-43B3-948B-1728B52AA6E4}">
                <adec:decorative xmlns:adec="http://schemas.microsoft.com/office/drawing/2017/decorative" val="1"/>
              </a:ext>
            </a:extLst>
          </p:cNvPr>
          <p:cNvSpPr/>
          <p:nvPr/>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9" name="Content Placeholder 8">
            <a:extLst>
              <a:ext uri="{FF2B5EF4-FFF2-40B4-BE49-F238E27FC236}">
                <a16:creationId xmlns:a16="http://schemas.microsoft.com/office/drawing/2014/main" id="{ABD02768-7063-46CF-8117-B5DA7267985F}"/>
              </a:ext>
            </a:extLst>
          </p:cNvPr>
          <p:cNvPicPr>
            <a:picLocks noGrp="1" noChangeAspect="1"/>
          </p:cNvPicPr>
          <p:nvPr>
            <p:ph sz="quarter" idx="15"/>
          </p:nvPr>
        </p:nvPicPr>
        <p:blipFill>
          <a:blip r:embed="rId4"/>
          <a:stretch>
            <a:fillRect/>
          </a:stretch>
        </p:blipFill>
        <p:spPr>
          <a:xfrm>
            <a:off x="329184" y="1216152"/>
            <a:ext cx="5642991" cy="4023359"/>
          </a:xfrm>
          <a:prstGeom prst="rect">
            <a:avLst/>
          </a:prstGeom>
        </p:spPr>
      </p:pic>
    </p:spTree>
    <p:extLst>
      <p:ext uri="{BB962C8B-B14F-4D97-AF65-F5344CB8AC3E}">
        <p14:creationId xmlns:p14="http://schemas.microsoft.com/office/powerpoint/2010/main" val="643777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DA972-BD3A-3DCD-81F1-7AF161F58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0FE33-53A6-E75A-9BA0-8B7B1BFDD51E}"/>
              </a:ext>
            </a:extLst>
          </p:cNvPr>
          <p:cNvSpPr>
            <a:spLocks noGrp="1"/>
          </p:cNvSpPr>
          <p:nvPr>
            <p:ph type="title"/>
          </p:nvPr>
        </p:nvSpPr>
        <p:spPr>
          <a:xfrm>
            <a:off x="365760" y="374904"/>
            <a:ext cx="10988040" cy="6345936"/>
          </a:xfrm>
          <a:noFill/>
        </p:spPr>
        <p:txBody>
          <a:bodyPr anchor="ctr"/>
          <a:lstStyle/>
          <a:p>
            <a:pPr algn="l"/>
            <a:br>
              <a:rPr lang="en-US" dirty="0"/>
            </a:br>
            <a:br>
              <a:rPr lang="en-US" dirty="0"/>
            </a:br>
            <a:br>
              <a:rPr lang="en-US" b="1" dirty="0"/>
            </a:br>
            <a:br>
              <a:rPr lang="en-US" b="1" dirty="0"/>
            </a:br>
            <a:br>
              <a:rPr lang="en-US" b="1" dirty="0"/>
            </a:br>
            <a:br>
              <a:rPr lang="en-US" b="1" dirty="0"/>
            </a:br>
            <a:br>
              <a:rPr lang="en-US" b="1" dirty="0"/>
            </a:br>
            <a:br>
              <a:rPr lang="en-US" b="1" dirty="0"/>
            </a:br>
            <a:r>
              <a:rPr lang="en-US" b="1" dirty="0"/>
              <a:t>tableau loan and credit dashboard:</a:t>
            </a:r>
            <a:br>
              <a:rPr lang="en-US" dirty="0"/>
            </a:br>
            <a:br>
              <a:rPr lang="en-US" dirty="0"/>
            </a:br>
            <a:br>
              <a:rPr lang="en-US" dirty="0"/>
            </a:br>
            <a:r>
              <a:rPr lang="en-US" sz="1800" b="1" dirty="0"/>
              <a:t>Data Connection </a:t>
            </a:r>
            <a:r>
              <a:rPr lang="en-US" sz="1800" dirty="0"/>
              <a:t>– We connected the banking data to Tableau and prepared it for analysis.</a:t>
            </a:r>
            <a:br>
              <a:rPr lang="en-US" sz="1800" dirty="0"/>
            </a:br>
            <a:br>
              <a:rPr lang="en-US" sz="1800" dirty="0"/>
            </a:br>
            <a:r>
              <a:rPr lang="en-US" sz="1800" b="1" dirty="0"/>
              <a:t>Calculated Fields </a:t>
            </a:r>
            <a:r>
              <a:rPr lang="en-US" sz="1800" dirty="0"/>
              <a:t>– We created calculated fields for important KPIs such as Total Loans, Funded Amount, Credit Amount and Debit Amount.</a:t>
            </a:r>
            <a:br>
              <a:rPr lang="en-US" sz="1800" dirty="0"/>
            </a:br>
            <a:br>
              <a:rPr lang="en-US" sz="1800" dirty="0"/>
            </a:br>
            <a:r>
              <a:rPr lang="en-US" sz="1800" b="1" dirty="0"/>
              <a:t>KPI Cards </a:t>
            </a:r>
            <a:r>
              <a:rPr lang="en-US" sz="1800" dirty="0"/>
              <a:t>– We created KPI cards to display the main business metrics clearly.</a:t>
            </a:r>
            <a:br>
              <a:rPr lang="en-US" sz="1800" dirty="0"/>
            </a:br>
            <a:br>
              <a:rPr lang="en-US" sz="1800" dirty="0"/>
            </a:br>
            <a:r>
              <a:rPr lang="en-US" sz="1800" b="1" dirty="0"/>
              <a:t>Charts &amp; Visualizations </a:t>
            </a:r>
            <a:r>
              <a:rPr lang="en-US" sz="1800" dirty="0"/>
              <a:t>– We created charts to analyze loan status, funding trends, transactions, banks, branches and transaction methods.</a:t>
            </a:r>
            <a:br>
              <a:rPr lang="en-US" sz="1800" dirty="0"/>
            </a:br>
            <a:br>
              <a:rPr lang="en-US" sz="1800" dirty="0"/>
            </a:br>
            <a:r>
              <a:rPr lang="en-US" sz="1800" b="1" dirty="0"/>
              <a:t>Filters &amp; Interactivity </a:t>
            </a:r>
            <a:r>
              <a:rPr lang="en-US" sz="1800" dirty="0"/>
              <a:t>– We added filters to allow users to analyze the dashboards based on different categories.</a:t>
            </a:r>
            <a:br>
              <a:rPr lang="en-US" sz="1800" dirty="0"/>
            </a:br>
            <a:br>
              <a:rPr lang="en-US" sz="1800" dirty="0"/>
            </a:br>
            <a:r>
              <a:rPr lang="en-US" sz="1800" b="1" dirty="0"/>
              <a:t>Dashboard Design </a:t>
            </a:r>
            <a:r>
              <a:rPr lang="en-US" sz="1800" dirty="0"/>
              <a:t>– We worked on alignment, sizing, formatting and proper placement of charts and KPIs to create a clean and professional dashboard.</a:t>
            </a:r>
            <a:br>
              <a:rPr lang="en-US" sz="1800" dirty="0"/>
            </a:br>
            <a:br>
              <a:rPr lang="en-US" sz="1800" dirty="0"/>
            </a:br>
            <a:br>
              <a:rPr lang="en-US" sz="1600" dirty="0"/>
            </a:br>
            <a:br>
              <a:rPr lang="en-US" sz="1600" dirty="0"/>
            </a:br>
            <a:br>
              <a:rPr lang="en-US" dirty="0"/>
            </a:br>
            <a:br>
              <a:rPr lang="en-US" dirty="0"/>
            </a:br>
            <a:br>
              <a:rPr lang="en-US" dirty="0"/>
            </a:br>
            <a:br>
              <a:rPr lang="en-US" dirty="0"/>
            </a:br>
            <a:br>
              <a:rPr lang="en-US" dirty="0"/>
            </a:br>
            <a:br>
              <a:rPr lang="en-US" dirty="0"/>
            </a:br>
            <a:br>
              <a:rPr lang="en-US" dirty="0"/>
            </a:br>
            <a:br>
              <a:rPr lang="en-US" dirty="0"/>
            </a:br>
            <a:endParaRPr lang="en-US" dirty="0"/>
          </a:p>
        </p:txBody>
      </p:sp>
    </p:spTree>
    <p:extLst>
      <p:ext uri="{BB962C8B-B14F-4D97-AF65-F5344CB8AC3E}">
        <p14:creationId xmlns:p14="http://schemas.microsoft.com/office/powerpoint/2010/main" val="4233691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30589-CC92-440B-ACAC-56BE2FC99322}"/>
              </a:ext>
            </a:extLst>
          </p:cNvPr>
          <p:cNvSpPr>
            <a:spLocks noGrp="1"/>
          </p:cNvSpPr>
          <p:nvPr>
            <p:ph type="title"/>
          </p:nvPr>
        </p:nvSpPr>
        <p:spPr>
          <a:xfrm>
            <a:off x="192024" y="137160"/>
            <a:ext cx="11695176" cy="6513897"/>
          </a:xfrm>
        </p:spPr>
        <p:txBody>
          <a:bodyPr/>
          <a:lstStyle/>
          <a:p>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dirty="0"/>
          </a:p>
        </p:txBody>
      </p:sp>
      <p:pic>
        <p:nvPicPr>
          <p:cNvPr id="4" name="Picture 3">
            <a:extLst>
              <a:ext uri="{FF2B5EF4-FFF2-40B4-BE49-F238E27FC236}">
                <a16:creationId xmlns:a16="http://schemas.microsoft.com/office/drawing/2014/main" id="{565103E6-6BDB-4F10-835B-246078765CDA}"/>
              </a:ext>
            </a:extLst>
          </p:cNvPr>
          <p:cNvPicPr>
            <a:picLocks noChangeAspect="1"/>
          </p:cNvPicPr>
          <p:nvPr/>
        </p:nvPicPr>
        <p:blipFill>
          <a:blip r:embed="rId2"/>
          <a:stretch>
            <a:fillRect/>
          </a:stretch>
        </p:blipFill>
        <p:spPr>
          <a:xfrm>
            <a:off x="247651" y="447537"/>
            <a:ext cx="6477000" cy="5353325"/>
          </a:xfrm>
          <a:prstGeom prst="rect">
            <a:avLst/>
          </a:prstGeom>
        </p:spPr>
      </p:pic>
      <p:pic>
        <p:nvPicPr>
          <p:cNvPr id="6" name="Picture 5">
            <a:extLst>
              <a:ext uri="{FF2B5EF4-FFF2-40B4-BE49-F238E27FC236}">
                <a16:creationId xmlns:a16="http://schemas.microsoft.com/office/drawing/2014/main" id="{E0CC29D8-C330-4637-828B-6BB3735F0EC7}"/>
              </a:ext>
            </a:extLst>
          </p:cNvPr>
          <p:cNvPicPr>
            <a:picLocks noChangeAspect="1"/>
          </p:cNvPicPr>
          <p:nvPr/>
        </p:nvPicPr>
        <p:blipFill>
          <a:blip r:embed="rId3"/>
          <a:stretch>
            <a:fillRect/>
          </a:stretch>
        </p:blipFill>
        <p:spPr>
          <a:xfrm>
            <a:off x="6095999" y="447537"/>
            <a:ext cx="5591175" cy="5286513"/>
          </a:xfrm>
          <a:prstGeom prst="rect">
            <a:avLst/>
          </a:prstGeom>
        </p:spPr>
      </p:pic>
    </p:spTree>
    <p:extLst>
      <p:ext uri="{BB962C8B-B14F-4D97-AF65-F5344CB8AC3E}">
        <p14:creationId xmlns:p14="http://schemas.microsoft.com/office/powerpoint/2010/main" val="616137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0A364-4CC7-43AE-A5BC-CB7C0AA2E2D8}"/>
              </a:ext>
            </a:extLst>
          </p:cNvPr>
          <p:cNvSpPr>
            <a:spLocks noGrp="1"/>
          </p:cNvSpPr>
          <p:nvPr>
            <p:ph type="title"/>
          </p:nvPr>
        </p:nvSpPr>
        <p:spPr>
          <a:xfrm>
            <a:off x="323849" y="365125"/>
            <a:ext cx="11572875" cy="6149975"/>
          </a:xfrm>
        </p:spPr>
        <p:txBody>
          <a:bodyPr/>
          <a:lstStyle/>
          <a:p>
            <a:pPr algn="l"/>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dirty="0"/>
              <a:t>my </a:t>
            </a:r>
            <a:r>
              <a:rPr lang="en-US" dirty="0" err="1"/>
              <a:t>sql</a:t>
            </a:r>
            <a:r>
              <a:rPr lang="en-US" dirty="0"/>
              <a:t> queries for loan and credit dashboard:</a:t>
            </a:r>
            <a:br>
              <a:rPr lang="en-US" dirty="0"/>
            </a:br>
            <a:br>
              <a:rPr lang="en-US" dirty="0"/>
            </a:br>
            <a:r>
              <a:rPr lang="en-US" sz="1800" b="1" dirty="0"/>
              <a:t>Database &amp; Table Creation </a:t>
            </a:r>
            <a:r>
              <a:rPr lang="en-US" sz="1800" dirty="0"/>
              <a:t>– We created a database and stored the banking data in tables.</a:t>
            </a:r>
            <a:br>
              <a:rPr lang="en-US" sz="1800" dirty="0"/>
            </a:br>
            <a:br>
              <a:rPr lang="en-US" sz="1800" dirty="0"/>
            </a:br>
            <a:r>
              <a:rPr lang="en-US" sz="1800" b="1" dirty="0"/>
              <a:t>Data Retrieval </a:t>
            </a:r>
            <a:r>
              <a:rPr lang="en-US" sz="1800" dirty="0"/>
              <a:t>– We used SELECT queries to retrieve the required loan and transaction data.</a:t>
            </a:r>
            <a:br>
              <a:rPr lang="en-US" sz="1800" dirty="0"/>
            </a:br>
            <a:br>
              <a:rPr lang="en-US" sz="1800" dirty="0"/>
            </a:br>
            <a:r>
              <a:rPr lang="en-US" sz="1800" b="1" dirty="0"/>
              <a:t>Filtering Data </a:t>
            </a:r>
            <a:r>
              <a:rPr lang="en-US" sz="1800" dirty="0"/>
              <a:t>– We used WHERE conditions to filter data based on loan status, verification, banks, branches and transaction types.</a:t>
            </a:r>
            <a:br>
              <a:rPr lang="en-US" sz="1800" dirty="0"/>
            </a:br>
            <a:br>
              <a:rPr lang="en-US" sz="1800" dirty="0"/>
            </a:br>
            <a:r>
              <a:rPr lang="en-US" sz="1800" b="1" dirty="0"/>
              <a:t>KPI Calculation </a:t>
            </a:r>
            <a:r>
              <a:rPr lang="en-US" sz="1800" dirty="0"/>
              <a:t>– We used functions like COUNT() and SUM() to calculate KPIs such as Total Loans, Total Funded Amount, Total Credit Amount and Total Debit Amount.</a:t>
            </a:r>
            <a:br>
              <a:rPr lang="en-US" sz="1800" dirty="0"/>
            </a:br>
            <a:br>
              <a:rPr lang="en-US" sz="1800" dirty="0"/>
            </a:br>
            <a:r>
              <a:rPr lang="en-US" sz="1800" b="1" dirty="0"/>
              <a:t>Data Grouping </a:t>
            </a:r>
            <a:r>
              <a:rPr lang="en-US" sz="1800" dirty="0"/>
              <a:t>– We used GROUP BY to analyze data by year, state, bank, branch, loan status and transaction method.</a:t>
            </a:r>
            <a:br>
              <a:rPr lang="en-US" sz="1800" dirty="0"/>
            </a:br>
            <a:br>
              <a:rPr lang="en-US" sz="1800" dirty="0"/>
            </a:br>
            <a:r>
              <a:rPr lang="en-US" sz="1800" b="1" dirty="0"/>
              <a:t>Data Analysis &amp; Validation </a:t>
            </a:r>
            <a:r>
              <a:rPr lang="en-US" sz="1800" dirty="0"/>
              <a:t>– We compared SQL results with Excel and used the results for our Power BI and Tableau dashboards.</a:t>
            </a:r>
            <a:br>
              <a:rPr lang="en-US" sz="1800" dirty="0"/>
            </a:br>
            <a:br>
              <a:rPr lang="en-US" sz="1800"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dirty="0"/>
              <a:t>                   </a:t>
            </a:r>
            <a:br>
              <a:rPr lang="en-US" dirty="0"/>
            </a:br>
            <a:r>
              <a:rPr lang="en-US" dirty="0"/>
              <a:t> </a:t>
            </a:r>
            <a:br>
              <a:rPr lang="en-US" dirty="0"/>
            </a:br>
            <a:r>
              <a:rPr lang="en-US" dirty="0"/>
              <a:t>  </a:t>
            </a:r>
            <a:br>
              <a:rPr lang="en-US" dirty="0"/>
            </a:br>
            <a:r>
              <a:rPr lang="en-US" dirty="0"/>
              <a:t>  </a:t>
            </a:r>
            <a:br>
              <a:rPr lang="en-US" dirty="0"/>
            </a:br>
            <a:r>
              <a:rPr lang="en-US" dirty="0"/>
              <a:t>   </a:t>
            </a:r>
            <a:br>
              <a:rPr lang="en-US" dirty="0"/>
            </a:br>
            <a:r>
              <a:rPr lang="en-US" dirty="0"/>
              <a:t> </a:t>
            </a:r>
            <a:br>
              <a:rPr lang="en-US" dirty="0"/>
            </a:br>
            <a:r>
              <a:rPr lang="en-US" dirty="0"/>
              <a:t>   </a:t>
            </a:r>
          </a:p>
        </p:txBody>
      </p:sp>
    </p:spTree>
    <p:extLst>
      <p:ext uri="{BB962C8B-B14F-4D97-AF65-F5344CB8AC3E}">
        <p14:creationId xmlns:p14="http://schemas.microsoft.com/office/powerpoint/2010/main" val="1481012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362437" y="400485"/>
            <a:ext cx="9467127" cy="2527911"/>
          </a:xfrm>
        </p:spPr>
        <p:txBody>
          <a:bodyPr/>
          <a:lstStyle/>
          <a:p>
            <a:r>
              <a:rPr lang="en-US" dirty="0"/>
              <a:t>THANK YOU</a:t>
            </a:r>
          </a:p>
        </p:txBody>
      </p:sp>
      <p:sp>
        <p:nvSpPr>
          <p:cNvPr id="8" name="Text Placeholder 7">
            <a:extLst>
              <a:ext uri="{FF2B5EF4-FFF2-40B4-BE49-F238E27FC236}">
                <a16:creationId xmlns:a16="http://schemas.microsoft.com/office/drawing/2014/main" id="{86613063-168A-02B8-4326-BB842F3B83E2}"/>
              </a:ext>
            </a:extLst>
          </p:cNvPr>
          <p:cNvSpPr>
            <a:spLocks noGrp="1"/>
          </p:cNvSpPr>
          <p:nvPr>
            <p:ph type="body" sz="quarter" idx="10"/>
          </p:nvPr>
        </p:nvSpPr>
        <p:spPr>
          <a:xfrm>
            <a:off x="1362075" y="3738622"/>
            <a:ext cx="9467850" cy="2527911"/>
          </a:xfrm>
        </p:spPr>
        <p:txBody>
          <a:bodyPr>
            <a:normAutofit/>
          </a:bodyPr>
          <a:lstStyle/>
          <a:p>
            <a:r>
              <a:rPr lang="en-US" sz="3600" dirty="0"/>
              <a:t>BY GROUP: 2</a:t>
            </a:r>
          </a:p>
        </p:txBody>
      </p:sp>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2.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Tech presentation</Template>
  <TotalTime>170</TotalTime>
  <Words>1380</Words>
  <Application>Microsoft Office PowerPoint</Application>
  <PresentationFormat>Widescreen</PresentationFormat>
  <Paragraphs>94</Paragraphs>
  <Slides>14</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Calibri</vt:lpstr>
      <vt:lpstr>Calibri Light</vt:lpstr>
      <vt:lpstr>Wingdings</vt:lpstr>
      <vt:lpstr>Custom</vt:lpstr>
      <vt:lpstr>Bank analytics dashboard                                        by group:2</vt:lpstr>
      <vt:lpstr>Overview of bank dashboard</vt:lpstr>
      <vt:lpstr>What we learned in this banking analytics dashboard</vt:lpstr>
      <vt:lpstr>Problem’s we faced through this project </vt:lpstr>
      <vt:lpstr>What all kpi’s are used for the dashboard </vt:lpstr>
      <vt:lpstr>Excel loan  dashboard:</vt:lpstr>
      <vt:lpstr>Excel credit and debit dashboard:</vt:lpstr>
      <vt:lpstr>Power bi loan and credit dashboard:</vt:lpstr>
      <vt:lpstr>Power bi loan and credit dashboard:</vt:lpstr>
      <vt:lpstr>Tableau loan and credit dashboard:</vt:lpstr>
      <vt:lpstr>        tableau loan and credit dashboard:   Data Connection – We connected the banking data to Tableau and prepared it for analysis.  Calculated Fields – We created calculated fields for important KPIs such as Total Loans, Funded Amount, Credit Amount and Debit Amount.  KPI Cards – We created KPI cards to display the main business metrics clearly.  Charts &amp; Visualizations – We created charts to analyze loan status, funding trends, transactions, banks, branches and transaction methods.  Filters &amp; Interactivity – We added filters to allow users to analyze the dashboards based on different categories.  Dashboard Design – We worked on alignment, sizing, formatting and proper placement of charts and KPIs to create a clean and professional dashboard.            </vt:lpstr>
      <vt:lpstr>                   </vt:lpstr>
      <vt:lpstr>                    my sql queries for loan and credit dashboard:  Database &amp; Table Creation – We created a database and stored the banking data in tables.  Data Retrieval – We used SELECT queries to retrieve the required loan and transaction data.  Filtering Data – We used WHERE conditions to filter data based on loan status, verification, banks, branches and transaction types.  KPI Calculation – We used functions like COUNT() and SUM() to calculate KPIs such as Total Loans, Total Funded Amount, Total Credit Amount and Total Debit Amount.  Data Grouping – We used GROUP BY to analyze data by year, state, bank, branch, loan status and transaction method.  Data Analysis &amp; Validation – We compared SQL results with Excel and used the results for our Power BI and Tableau dashboards.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analaytics dashboard                                        by group:2</dc:title>
  <dc:creator>KUTTY BABY</dc:creator>
  <cp:lastModifiedBy>KUTTY BABY</cp:lastModifiedBy>
  <cp:revision>14</cp:revision>
  <dcterms:created xsi:type="dcterms:W3CDTF">2026-09-04T12:54:32Z</dcterms:created>
  <dcterms:modified xsi:type="dcterms:W3CDTF">2026-09-06T11:44:46Z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